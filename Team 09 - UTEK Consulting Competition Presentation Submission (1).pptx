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4" r:id="rId4"/>
    <p:sldMasterId id="2147483745" r:id="rId5"/>
    <p:sldMasterId id="214748374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Lexend SemiBold"/>
      <p:regular r:id="rId19"/>
      <p:bold r:id="rId20"/>
    </p:embeddedFont>
    <p:embeddedFont>
      <p:font typeface="Lexend Light"/>
      <p:regular r:id="rId21"/>
      <p:bold r:id="rId22"/>
    </p:embeddedFont>
    <p:embeddedFont>
      <p:font typeface="Lexend"/>
      <p:regular r:id="rId23"/>
      <p:bold r:id="rId24"/>
    </p:embeddedFont>
    <p:embeddedFont>
      <p:font typeface="Lexend ExtraLight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LexendSemiBold-bold.fntdata"/><Relationship Id="rId22" Type="http://schemas.openxmlformats.org/officeDocument/2006/relationships/font" Target="fonts/LexendLight-bold.fntdata"/><Relationship Id="rId21" Type="http://schemas.openxmlformats.org/officeDocument/2006/relationships/font" Target="fonts/LexendLight-regular.fntdata"/><Relationship Id="rId24" Type="http://schemas.openxmlformats.org/officeDocument/2006/relationships/font" Target="fonts/Lexend-bold.fntdata"/><Relationship Id="rId23" Type="http://schemas.openxmlformats.org/officeDocument/2006/relationships/font" Target="fonts/Lexend-regular.fntdata"/><Relationship Id="rId26" Type="http://schemas.openxmlformats.org/officeDocument/2006/relationships/font" Target="fonts/LexendExtraLight-bold.fntdata"/><Relationship Id="rId25" Type="http://schemas.openxmlformats.org/officeDocument/2006/relationships/font" Target="fonts/LexendExtraLight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LexendSemiBold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2de1270a78_1_250:notes"/>
          <p:cNvSpPr/>
          <p:nvPr>
            <p:ph idx="2" type="sldImg"/>
          </p:nvPr>
        </p:nvSpPr>
        <p:spPr>
          <a:xfrm>
            <a:off x="1714500" y="685800"/>
            <a:ext cx="3429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2de1270a78_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2de1270a78_1_250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First Template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2de1270a78_1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2de1270a78_1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2de1270a78_2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2de1270a78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2de1270a7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2de1270a7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used starbucks as a benchmark…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2de1270a78_3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2de1270a78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2de1270a78_5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2de1270a78_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2de1270a78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2de1270a78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-Remember cost calculations from my notebook and appendix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- “With these added benefits in place, annual operational costs will be at 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$1022657.01”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‌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2de1270a78_5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2de1270a78_5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2de1270a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2de1270a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2de1270a7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2de1270a7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practices will ensure that turnover rates continue on a downward trend after solution implementation.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2de1270a78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2de1270a78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ee Blank">
  <p:cSld name="Free 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Free Blank With Footer">
  <p:cSld name="1_Free Blank With Foo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ee Blank With Footer">
  <p:cSld name="Free Blank With Foot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Free Blank With Footer">
  <p:cSld name="3_Free Blank With Foot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Free Blank With Footer">
  <p:cSld name="2_Free Blank With Foo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Free Blank With Footer">
  <p:cSld name="4_Free Blank With Foo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9"/>
          <p:cNvSpPr txBox="1"/>
          <p:nvPr>
            <p:ph type="title"/>
          </p:nvPr>
        </p:nvSpPr>
        <p:spPr>
          <a:xfrm>
            <a:off x="2843790" y="406017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4367790" y="758008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r">
              <a:spcBef>
                <a:spcPts val="21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Screen Picture">
  <p:cSld name="FullScreen Pictur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Smal Pictures">
  <p:cSld name="Top Smal Picture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21"/>
          <p:cNvSpPr/>
          <p:nvPr>
            <p:ph idx="2" type="pic"/>
          </p:nvPr>
        </p:nvSpPr>
        <p:spPr>
          <a:xfrm>
            <a:off x="3891241" y="1257546"/>
            <a:ext cx="1361400" cy="1361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21"/>
          <p:cNvSpPr/>
          <p:nvPr>
            <p:ph idx="3" type="pic"/>
          </p:nvPr>
        </p:nvSpPr>
        <p:spPr>
          <a:xfrm>
            <a:off x="0" y="0"/>
            <a:ext cx="9144000" cy="193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">
  <p:cSld name="Team Slid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22"/>
          <p:cNvSpPr/>
          <p:nvPr>
            <p:ph idx="2" type="pic"/>
          </p:nvPr>
        </p:nvSpPr>
        <p:spPr>
          <a:xfrm>
            <a:off x="804530" y="1332971"/>
            <a:ext cx="1492200" cy="14919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22"/>
          <p:cNvSpPr/>
          <p:nvPr>
            <p:ph idx="3" type="pic"/>
          </p:nvPr>
        </p:nvSpPr>
        <p:spPr>
          <a:xfrm>
            <a:off x="2765393" y="1332971"/>
            <a:ext cx="1492200" cy="14919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22"/>
          <p:cNvSpPr/>
          <p:nvPr>
            <p:ph idx="4" type="pic"/>
          </p:nvPr>
        </p:nvSpPr>
        <p:spPr>
          <a:xfrm>
            <a:off x="4783516" y="1332971"/>
            <a:ext cx="1492200" cy="14919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2"/>
          <p:cNvSpPr/>
          <p:nvPr>
            <p:ph idx="5" type="pic"/>
          </p:nvPr>
        </p:nvSpPr>
        <p:spPr>
          <a:xfrm>
            <a:off x="6790893" y="1332971"/>
            <a:ext cx="1492200" cy="14919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02">
  <p:cSld name="Team Slide 0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23"/>
          <p:cNvSpPr/>
          <p:nvPr>
            <p:ph idx="2" type="pic"/>
          </p:nvPr>
        </p:nvSpPr>
        <p:spPr>
          <a:xfrm>
            <a:off x="804530" y="1332971"/>
            <a:ext cx="1492200" cy="14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3"/>
          <p:cNvSpPr/>
          <p:nvPr>
            <p:ph idx="3" type="pic"/>
          </p:nvPr>
        </p:nvSpPr>
        <p:spPr>
          <a:xfrm>
            <a:off x="2765393" y="1332971"/>
            <a:ext cx="1492200" cy="14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3"/>
          <p:cNvSpPr/>
          <p:nvPr>
            <p:ph idx="4" type="pic"/>
          </p:nvPr>
        </p:nvSpPr>
        <p:spPr>
          <a:xfrm>
            <a:off x="4783516" y="1332971"/>
            <a:ext cx="1492200" cy="14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3"/>
          <p:cNvSpPr/>
          <p:nvPr>
            <p:ph idx="5" type="pic"/>
          </p:nvPr>
        </p:nvSpPr>
        <p:spPr>
          <a:xfrm>
            <a:off x="6790893" y="1332971"/>
            <a:ext cx="1492200" cy="14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03">
  <p:cSld name="Team Slide 0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4"/>
          <p:cNvSpPr/>
          <p:nvPr>
            <p:ph idx="2" type="pic"/>
          </p:nvPr>
        </p:nvSpPr>
        <p:spPr>
          <a:xfrm>
            <a:off x="675042" y="1332970"/>
            <a:ext cx="2433300" cy="2445300"/>
          </a:xfrm>
          <a:prstGeom prst="roundRect">
            <a:avLst>
              <a:gd fmla="val 8446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04">
  <p:cSld name="Team Slide 04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5"/>
          <p:cNvSpPr/>
          <p:nvPr>
            <p:ph idx="2" type="pic"/>
          </p:nvPr>
        </p:nvSpPr>
        <p:spPr>
          <a:xfrm>
            <a:off x="374535" y="1116457"/>
            <a:ext cx="1354800" cy="1354500"/>
          </a:xfrm>
          <a:prstGeom prst="roundRect">
            <a:avLst>
              <a:gd fmla="val 11041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5"/>
          <p:cNvSpPr/>
          <p:nvPr>
            <p:ph idx="3" type="pic"/>
          </p:nvPr>
        </p:nvSpPr>
        <p:spPr>
          <a:xfrm>
            <a:off x="1917858" y="1116457"/>
            <a:ext cx="1354800" cy="1354500"/>
          </a:xfrm>
          <a:prstGeom prst="roundRect">
            <a:avLst>
              <a:gd fmla="val 13151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5"/>
          <p:cNvSpPr/>
          <p:nvPr>
            <p:ph idx="4" type="pic"/>
          </p:nvPr>
        </p:nvSpPr>
        <p:spPr>
          <a:xfrm>
            <a:off x="3461181" y="1116457"/>
            <a:ext cx="1354800" cy="1354500"/>
          </a:xfrm>
          <a:prstGeom prst="roundRect">
            <a:avLst>
              <a:gd fmla="val 11744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5"/>
          <p:cNvSpPr/>
          <p:nvPr>
            <p:ph idx="5" type="pic"/>
          </p:nvPr>
        </p:nvSpPr>
        <p:spPr>
          <a:xfrm>
            <a:off x="5006192" y="1116457"/>
            <a:ext cx="1354800" cy="1354500"/>
          </a:xfrm>
          <a:prstGeom prst="roundRect">
            <a:avLst>
              <a:gd fmla="val 7524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5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05">
  <p:cSld name="Team Slide 05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6"/>
          <p:cNvSpPr/>
          <p:nvPr>
            <p:ph idx="2" type="pic"/>
          </p:nvPr>
        </p:nvSpPr>
        <p:spPr>
          <a:xfrm>
            <a:off x="3169669" y="1307178"/>
            <a:ext cx="1354800" cy="1354500"/>
          </a:xfrm>
          <a:prstGeom prst="roundRect">
            <a:avLst>
              <a:gd fmla="val 11744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6"/>
          <p:cNvSpPr/>
          <p:nvPr>
            <p:ph idx="3" type="pic"/>
          </p:nvPr>
        </p:nvSpPr>
        <p:spPr>
          <a:xfrm>
            <a:off x="4630151" y="1307178"/>
            <a:ext cx="1354800" cy="1354500"/>
          </a:xfrm>
          <a:prstGeom prst="roundRect">
            <a:avLst>
              <a:gd fmla="val 7524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6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06">
  <p:cSld name="Team Slide 06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7"/>
          <p:cNvSpPr/>
          <p:nvPr>
            <p:ph idx="2" type="pic"/>
          </p:nvPr>
        </p:nvSpPr>
        <p:spPr>
          <a:xfrm>
            <a:off x="2697518" y="2405288"/>
            <a:ext cx="973200" cy="9729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7"/>
          <p:cNvSpPr/>
          <p:nvPr>
            <p:ph idx="3" type="pic"/>
          </p:nvPr>
        </p:nvSpPr>
        <p:spPr>
          <a:xfrm>
            <a:off x="4043914" y="1033042"/>
            <a:ext cx="973200" cy="9729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27"/>
          <p:cNvSpPr/>
          <p:nvPr>
            <p:ph idx="4" type="pic"/>
          </p:nvPr>
        </p:nvSpPr>
        <p:spPr>
          <a:xfrm>
            <a:off x="5418560" y="2398767"/>
            <a:ext cx="973200" cy="9729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7"/>
          <p:cNvSpPr/>
          <p:nvPr>
            <p:ph idx="5" type="pic"/>
          </p:nvPr>
        </p:nvSpPr>
        <p:spPr>
          <a:xfrm>
            <a:off x="4049373" y="3759287"/>
            <a:ext cx="973200" cy="9729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7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Pictures">
  <p:cSld name="One Picture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8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8"/>
          <p:cNvSpPr/>
          <p:nvPr>
            <p:ph idx="2" type="pic"/>
          </p:nvPr>
        </p:nvSpPr>
        <p:spPr>
          <a:xfrm>
            <a:off x="0" y="954312"/>
            <a:ext cx="9144000" cy="3691200"/>
          </a:xfrm>
          <a:prstGeom prst="downArrowCallout">
            <a:avLst>
              <a:gd fmla="val 50000" name="adj1"/>
              <a:gd fmla="val 15352" name="adj2"/>
              <a:gd fmla="val 5443" name="adj3"/>
              <a:gd fmla="val 94557" name="adj4"/>
            </a:avLst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ne Top Pictures">
  <p:cSld name="1_One Top Picture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9"/>
          <p:cNvSpPr/>
          <p:nvPr>
            <p:ph idx="2" type="pic"/>
          </p:nvPr>
        </p:nvSpPr>
        <p:spPr>
          <a:xfrm>
            <a:off x="0" y="2"/>
            <a:ext cx="9144000" cy="29751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ne Top Pictures">
  <p:cSld name="2_One Top Picture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0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30"/>
          <p:cNvSpPr/>
          <p:nvPr>
            <p:ph idx="2" type="pic"/>
          </p:nvPr>
        </p:nvSpPr>
        <p:spPr>
          <a:xfrm>
            <a:off x="660455" y="1229499"/>
            <a:ext cx="3681000" cy="3202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30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0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eft Picture">
  <p:cSld name="One Left Pictur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31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 txBox="1"/>
          <p:nvPr/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>
            <p:ph idx="2" type="pic"/>
          </p:nvPr>
        </p:nvSpPr>
        <p:spPr>
          <a:xfrm>
            <a:off x="0" y="0"/>
            <a:ext cx="4456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ne Right Picture">
  <p:cSld name="1_One Right Picture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/>
          <p:nvPr>
            <p:ph idx="2" type="pic"/>
          </p:nvPr>
        </p:nvSpPr>
        <p:spPr>
          <a:xfrm>
            <a:off x="4687214" y="0"/>
            <a:ext cx="4456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ictures 02">
  <p:cSld name="Three Pictures 0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3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33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3"/>
          <p:cNvSpPr txBox="1"/>
          <p:nvPr/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3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3" name="Google Shape;153;p33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3"/>
          <p:cNvSpPr/>
          <p:nvPr>
            <p:ph idx="2" type="pic"/>
          </p:nvPr>
        </p:nvSpPr>
        <p:spPr>
          <a:xfrm>
            <a:off x="137549" y="1181527"/>
            <a:ext cx="2698200" cy="26577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  <p:sp>
        <p:nvSpPr>
          <p:cNvPr id="155" name="Google Shape;155;p33"/>
          <p:cNvSpPr/>
          <p:nvPr>
            <p:ph idx="3" type="pic"/>
          </p:nvPr>
        </p:nvSpPr>
        <p:spPr>
          <a:xfrm>
            <a:off x="3222955" y="1181527"/>
            <a:ext cx="2698200" cy="26577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  <p:sp>
        <p:nvSpPr>
          <p:cNvPr id="156" name="Google Shape;156;p33"/>
          <p:cNvSpPr/>
          <p:nvPr>
            <p:ph idx="4" type="pic"/>
          </p:nvPr>
        </p:nvSpPr>
        <p:spPr>
          <a:xfrm>
            <a:off x="6308361" y="1181527"/>
            <a:ext cx="2698200" cy="26577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hree Pictures 03">
  <p:cSld name="1_Three Pictures 03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34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4"/>
          <p:cNvSpPr txBox="1"/>
          <p:nvPr/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4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3" name="Google Shape;163;p34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34"/>
          <p:cNvSpPr/>
          <p:nvPr>
            <p:ph idx="2" type="pic"/>
          </p:nvPr>
        </p:nvSpPr>
        <p:spPr>
          <a:xfrm>
            <a:off x="356921" y="1084243"/>
            <a:ext cx="2602200" cy="17637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  <p:sp>
        <p:nvSpPr>
          <p:cNvPr id="165" name="Google Shape;165;p34"/>
          <p:cNvSpPr/>
          <p:nvPr>
            <p:ph idx="3" type="pic"/>
          </p:nvPr>
        </p:nvSpPr>
        <p:spPr>
          <a:xfrm>
            <a:off x="3270925" y="1084243"/>
            <a:ext cx="2602200" cy="17637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  <p:sp>
        <p:nvSpPr>
          <p:cNvPr id="166" name="Google Shape;166;p34"/>
          <p:cNvSpPr/>
          <p:nvPr>
            <p:ph idx="4" type="pic"/>
          </p:nvPr>
        </p:nvSpPr>
        <p:spPr>
          <a:xfrm>
            <a:off x="6181346" y="1084243"/>
            <a:ext cx="2602200" cy="17637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w Left Right Picture">
  <p:cSld name="Tow Left Right Pictur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/>
          <p:nvPr>
            <p:ph idx="2" type="pic"/>
          </p:nvPr>
        </p:nvSpPr>
        <p:spPr>
          <a:xfrm>
            <a:off x="137549" y="1181527"/>
            <a:ext cx="2698200" cy="25500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  <p:sp>
        <p:nvSpPr>
          <p:cNvPr id="169" name="Google Shape;169;p35"/>
          <p:cNvSpPr/>
          <p:nvPr>
            <p:ph idx="3" type="pic"/>
          </p:nvPr>
        </p:nvSpPr>
        <p:spPr>
          <a:xfrm>
            <a:off x="6308361" y="1181528"/>
            <a:ext cx="2698200" cy="2550000"/>
          </a:xfrm>
          <a:prstGeom prst="downArrowCallout">
            <a:avLst>
              <a:gd fmla="val 15820" name="adj1"/>
              <a:gd fmla="val 7910" name="adj2"/>
              <a:gd fmla="val 7060" name="adj3"/>
              <a:gd fmla="val 92940" name="adj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dle Picture">
  <p:cSld name="Middle Pictur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/>
          <p:nvPr>
            <p:ph idx="2" type="pic"/>
          </p:nvPr>
        </p:nvSpPr>
        <p:spPr>
          <a:xfrm>
            <a:off x="3765503" y="1036926"/>
            <a:ext cx="2520600" cy="3723900"/>
          </a:xfrm>
          <a:prstGeom prst="downArrowCallout">
            <a:avLst>
              <a:gd fmla="val 15820" name="adj1"/>
              <a:gd fmla="val 7910" name="adj2"/>
              <a:gd fmla="val 7060" name="adj3"/>
              <a:gd fmla="val 95221" name="adj4"/>
            </a:avLst>
          </a:prstGeom>
          <a:noFill/>
          <a:ln>
            <a:noFill/>
          </a:ln>
        </p:spPr>
      </p:sp>
      <p:sp>
        <p:nvSpPr>
          <p:cNvPr id="172" name="Google Shape;172;p36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6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36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6"/>
          <p:cNvSpPr txBox="1"/>
          <p:nvPr/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6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7" name="Google Shape;177;p36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ictures">
  <p:cSld name="three Pictures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/>
          <p:nvPr>
            <p:ph idx="2" type="pic"/>
          </p:nvPr>
        </p:nvSpPr>
        <p:spPr>
          <a:xfrm>
            <a:off x="1097281" y="1318654"/>
            <a:ext cx="2437800" cy="3202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7"/>
          <p:cNvSpPr/>
          <p:nvPr>
            <p:ph idx="3" type="pic"/>
          </p:nvPr>
        </p:nvSpPr>
        <p:spPr>
          <a:xfrm>
            <a:off x="5608927" y="1318654"/>
            <a:ext cx="2437800" cy="3202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7"/>
          <p:cNvSpPr/>
          <p:nvPr>
            <p:ph idx="4" type="pic"/>
          </p:nvPr>
        </p:nvSpPr>
        <p:spPr>
          <a:xfrm>
            <a:off x="3258581" y="1079134"/>
            <a:ext cx="2736000" cy="36816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7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7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37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7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Pictures">
  <p:cSld name="Four Pictures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8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38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0" name="Google Shape;190;p38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8"/>
          <p:cNvSpPr/>
          <p:nvPr>
            <p:ph idx="2" type="pic"/>
          </p:nvPr>
        </p:nvSpPr>
        <p:spPr>
          <a:xfrm>
            <a:off x="91440" y="1079134"/>
            <a:ext cx="2103000" cy="26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38"/>
          <p:cNvSpPr/>
          <p:nvPr>
            <p:ph idx="3" type="pic"/>
          </p:nvPr>
        </p:nvSpPr>
        <p:spPr>
          <a:xfrm>
            <a:off x="2377440" y="1079134"/>
            <a:ext cx="2103000" cy="26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8"/>
          <p:cNvSpPr/>
          <p:nvPr>
            <p:ph idx="4" type="pic"/>
          </p:nvPr>
        </p:nvSpPr>
        <p:spPr>
          <a:xfrm>
            <a:off x="4663440" y="1079134"/>
            <a:ext cx="2103000" cy="26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8"/>
          <p:cNvSpPr/>
          <p:nvPr>
            <p:ph idx="5" type="pic"/>
          </p:nvPr>
        </p:nvSpPr>
        <p:spPr>
          <a:xfrm>
            <a:off x="6949440" y="1079134"/>
            <a:ext cx="2103000" cy="264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Pictures 02">
  <p:cSld name="Four Pictures 0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9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9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9" name="Google Shape;199;p39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39"/>
          <p:cNvSpPr/>
          <p:nvPr>
            <p:ph idx="2" type="pic"/>
          </p:nvPr>
        </p:nvSpPr>
        <p:spPr>
          <a:xfrm>
            <a:off x="356920" y="901148"/>
            <a:ext cx="2602200" cy="17739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9"/>
          <p:cNvSpPr/>
          <p:nvPr>
            <p:ph idx="3" type="pic"/>
          </p:nvPr>
        </p:nvSpPr>
        <p:spPr>
          <a:xfrm>
            <a:off x="3270925" y="901148"/>
            <a:ext cx="2602200" cy="17739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9"/>
          <p:cNvSpPr/>
          <p:nvPr>
            <p:ph idx="4" type="pic"/>
          </p:nvPr>
        </p:nvSpPr>
        <p:spPr>
          <a:xfrm>
            <a:off x="6181346" y="901148"/>
            <a:ext cx="2602200" cy="17739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39"/>
          <p:cNvSpPr/>
          <p:nvPr>
            <p:ph idx="5" type="pic"/>
          </p:nvPr>
        </p:nvSpPr>
        <p:spPr>
          <a:xfrm>
            <a:off x="356920" y="2854619"/>
            <a:ext cx="2602200" cy="17739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9"/>
          <p:cNvSpPr/>
          <p:nvPr>
            <p:ph idx="6" type="pic"/>
          </p:nvPr>
        </p:nvSpPr>
        <p:spPr>
          <a:xfrm>
            <a:off x="6181346" y="2854619"/>
            <a:ext cx="2602200" cy="17739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9"/>
          <p:cNvSpPr/>
          <p:nvPr>
            <p:ph idx="7" type="pic"/>
          </p:nvPr>
        </p:nvSpPr>
        <p:spPr>
          <a:xfrm>
            <a:off x="3270925" y="2854619"/>
            <a:ext cx="2602200" cy="177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Four Pictures">
  <p:cSld name="2_Four Pictures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0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40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40"/>
          <p:cNvSpPr/>
          <p:nvPr>
            <p:ph idx="2" type="pic"/>
          </p:nvPr>
        </p:nvSpPr>
        <p:spPr>
          <a:xfrm>
            <a:off x="91440" y="1079134"/>
            <a:ext cx="2103000" cy="264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40"/>
          <p:cNvSpPr/>
          <p:nvPr>
            <p:ph idx="3" type="pic"/>
          </p:nvPr>
        </p:nvSpPr>
        <p:spPr>
          <a:xfrm>
            <a:off x="2377440" y="1079134"/>
            <a:ext cx="2103000" cy="264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0"/>
          <p:cNvSpPr/>
          <p:nvPr>
            <p:ph idx="4" type="pic"/>
          </p:nvPr>
        </p:nvSpPr>
        <p:spPr>
          <a:xfrm>
            <a:off x="4663440" y="1079134"/>
            <a:ext cx="2103000" cy="264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0"/>
          <p:cNvSpPr/>
          <p:nvPr>
            <p:ph idx="5" type="pic"/>
          </p:nvPr>
        </p:nvSpPr>
        <p:spPr>
          <a:xfrm>
            <a:off x="6949440" y="1079134"/>
            <a:ext cx="2103000" cy="264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mages">
  <p:cSld name="3 Images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/>
          <p:nvPr>
            <p:ph idx="2" type="pic"/>
          </p:nvPr>
        </p:nvSpPr>
        <p:spPr>
          <a:xfrm>
            <a:off x="222250" y="161925"/>
            <a:ext cx="4410000" cy="4819800"/>
          </a:xfrm>
          <a:prstGeom prst="round1Rect">
            <a:avLst>
              <a:gd fmla="val 5318" name="adj"/>
            </a:avLst>
          </a:prstGeom>
          <a:noFill/>
          <a:ln>
            <a:noFill/>
          </a:ln>
        </p:spPr>
      </p:sp>
      <p:sp>
        <p:nvSpPr>
          <p:cNvPr id="217" name="Google Shape;217;p41"/>
          <p:cNvSpPr/>
          <p:nvPr>
            <p:ph idx="3" type="pic"/>
          </p:nvPr>
        </p:nvSpPr>
        <p:spPr>
          <a:xfrm>
            <a:off x="4805150" y="162540"/>
            <a:ext cx="4116300" cy="3388500"/>
          </a:xfrm>
          <a:prstGeom prst="round1Rect">
            <a:avLst>
              <a:gd fmla="val 6441" name="adj"/>
            </a:avLst>
          </a:prstGeom>
          <a:noFill/>
          <a:ln>
            <a:noFill/>
          </a:ln>
        </p:spPr>
      </p:sp>
      <p:sp>
        <p:nvSpPr>
          <p:cNvPr id="218" name="Google Shape;218;p41"/>
          <p:cNvSpPr/>
          <p:nvPr>
            <p:ph idx="4" type="pic"/>
          </p:nvPr>
        </p:nvSpPr>
        <p:spPr>
          <a:xfrm>
            <a:off x="4805149" y="3734164"/>
            <a:ext cx="4116300" cy="1246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s">
  <p:cSld name="4 Image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/>
          <p:nvPr>
            <p:ph idx="2" type="pic"/>
          </p:nvPr>
        </p:nvSpPr>
        <p:spPr>
          <a:xfrm>
            <a:off x="222250" y="161925"/>
            <a:ext cx="4234500" cy="3388500"/>
          </a:xfrm>
          <a:prstGeom prst="round1Rect">
            <a:avLst>
              <a:gd fmla="val 6441" name="adj"/>
            </a:avLst>
          </a:prstGeom>
          <a:noFill/>
          <a:ln>
            <a:noFill/>
          </a:ln>
        </p:spPr>
      </p:sp>
      <p:sp>
        <p:nvSpPr>
          <p:cNvPr id="221" name="Google Shape;221;p42"/>
          <p:cNvSpPr/>
          <p:nvPr>
            <p:ph idx="3" type="pic"/>
          </p:nvPr>
        </p:nvSpPr>
        <p:spPr>
          <a:xfrm>
            <a:off x="222250" y="3734164"/>
            <a:ext cx="4234500" cy="12468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2"/>
          <p:cNvSpPr/>
          <p:nvPr>
            <p:ph idx="4" type="pic"/>
          </p:nvPr>
        </p:nvSpPr>
        <p:spPr>
          <a:xfrm>
            <a:off x="4687214" y="161925"/>
            <a:ext cx="4234500" cy="3388500"/>
          </a:xfrm>
          <a:prstGeom prst="round1Rect">
            <a:avLst>
              <a:gd fmla="val 6441" name="adj"/>
            </a:avLst>
          </a:prstGeom>
          <a:noFill/>
          <a:ln>
            <a:noFill/>
          </a:ln>
        </p:spPr>
      </p:sp>
      <p:sp>
        <p:nvSpPr>
          <p:cNvPr id="223" name="Google Shape;223;p42"/>
          <p:cNvSpPr/>
          <p:nvPr>
            <p:ph idx="5" type="pic"/>
          </p:nvPr>
        </p:nvSpPr>
        <p:spPr>
          <a:xfrm>
            <a:off x="4687214" y="3734164"/>
            <a:ext cx="4234500" cy="1246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folio">
  <p:cSld name="Portfolio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3"/>
          <p:cNvSpPr/>
          <p:nvPr>
            <p:ph idx="2" type="pic"/>
          </p:nvPr>
        </p:nvSpPr>
        <p:spPr>
          <a:xfrm>
            <a:off x="365438" y="2719243"/>
            <a:ext cx="2007900" cy="1774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43"/>
          <p:cNvSpPr/>
          <p:nvPr>
            <p:ph idx="3" type="pic"/>
          </p:nvPr>
        </p:nvSpPr>
        <p:spPr>
          <a:xfrm>
            <a:off x="2507877" y="1079134"/>
            <a:ext cx="2007900" cy="1774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43"/>
          <p:cNvSpPr/>
          <p:nvPr>
            <p:ph idx="4" type="pic"/>
          </p:nvPr>
        </p:nvSpPr>
        <p:spPr>
          <a:xfrm>
            <a:off x="4628356" y="2719243"/>
            <a:ext cx="2007900" cy="1774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43"/>
          <p:cNvSpPr/>
          <p:nvPr>
            <p:ph idx="5" type="pic"/>
          </p:nvPr>
        </p:nvSpPr>
        <p:spPr>
          <a:xfrm>
            <a:off x="6759814" y="1079134"/>
            <a:ext cx="2007900" cy="17745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43"/>
          <p:cNvSpPr/>
          <p:nvPr/>
        </p:nvSpPr>
        <p:spPr>
          <a:xfrm>
            <a:off x="365437" y="1067938"/>
            <a:ext cx="2007900" cy="1996800"/>
          </a:xfrm>
          <a:prstGeom prst="downArrowCallout">
            <a:avLst>
              <a:gd fmla="val 23554" name="adj1"/>
              <a:gd fmla="val 10346" name="adj2"/>
              <a:gd fmla="val 10003" name="adj3"/>
              <a:gd fmla="val 89997" name="adj4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3"/>
          <p:cNvSpPr/>
          <p:nvPr/>
        </p:nvSpPr>
        <p:spPr>
          <a:xfrm>
            <a:off x="2507876" y="2488743"/>
            <a:ext cx="2007900" cy="2016300"/>
          </a:xfrm>
          <a:prstGeom prst="upArrowCallout">
            <a:avLst>
              <a:gd fmla="val 25000" name="adj1"/>
              <a:gd fmla="val 9346" name="adj2"/>
              <a:gd fmla="val 11156" name="adj3"/>
              <a:gd fmla="val 88844" name="adj4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3"/>
          <p:cNvSpPr/>
          <p:nvPr/>
        </p:nvSpPr>
        <p:spPr>
          <a:xfrm>
            <a:off x="4628355" y="1067938"/>
            <a:ext cx="2007900" cy="1996800"/>
          </a:xfrm>
          <a:prstGeom prst="downArrowCallout">
            <a:avLst>
              <a:gd fmla="val 23554" name="adj1"/>
              <a:gd fmla="val 10346" name="adj2"/>
              <a:gd fmla="val 10003" name="adj3"/>
              <a:gd fmla="val 89997" name="adj4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32" name="Google Shape;232;p43"/>
          <p:cNvSpPr/>
          <p:nvPr/>
        </p:nvSpPr>
        <p:spPr>
          <a:xfrm>
            <a:off x="6759814" y="2488743"/>
            <a:ext cx="2007900" cy="2016300"/>
          </a:xfrm>
          <a:prstGeom prst="upArrowCallout">
            <a:avLst>
              <a:gd fmla="val 25000" name="adj1"/>
              <a:gd fmla="val 9346" name="adj2"/>
              <a:gd fmla="val 11156" name="adj3"/>
              <a:gd fmla="val 88844" name="adj4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3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3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43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Picture with three Columes">
  <p:cSld name="One Picture with three Colume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4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44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1" name="Google Shape;241;p44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2" name="Google Shape;242;p44"/>
          <p:cNvSpPr/>
          <p:nvPr/>
        </p:nvSpPr>
        <p:spPr>
          <a:xfrm>
            <a:off x="4644938" y="1246790"/>
            <a:ext cx="1854000" cy="3225900"/>
          </a:xfrm>
          <a:prstGeom prst="downArrowCallout">
            <a:avLst>
              <a:gd fmla="val 25000" name="adj1"/>
              <a:gd fmla="val 6698" name="adj2"/>
              <a:gd fmla="val 4369" name="adj3"/>
              <a:gd fmla="val 97489" name="adj4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4"/>
          <p:cNvSpPr/>
          <p:nvPr/>
        </p:nvSpPr>
        <p:spPr>
          <a:xfrm>
            <a:off x="2654745" y="1246790"/>
            <a:ext cx="1854000" cy="3225900"/>
          </a:xfrm>
          <a:prstGeom prst="downArrowCallout">
            <a:avLst>
              <a:gd fmla="val 25000" name="adj1"/>
              <a:gd fmla="val 6698" name="adj2"/>
              <a:gd fmla="val 4369" name="adj3"/>
              <a:gd fmla="val 97489" name="adj4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4"/>
          <p:cNvSpPr/>
          <p:nvPr/>
        </p:nvSpPr>
        <p:spPr>
          <a:xfrm>
            <a:off x="6635132" y="1246790"/>
            <a:ext cx="1854000" cy="3225900"/>
          </a:xfrm>
          <a:prstGeom prst="downArrowCallout">
            <a:avLst>
              <a:gd fmla="val 25000" name="adj1"/>
              <a:gd fmla="val 6698" name="adj2"/>
              <a:gd fmla="val 4369" name="adj3"/>
              <a:gd fmla="val 97489" name="adj4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4"/>
          <p:cNvSpPr/>
          <p:nvPr>
            <p:ph idx="2" type="pic"/>
          </p:nvPr>
        </p:nvSpPr>
        <p:spPr>
          <a:xfrm>
            <a:off x="664552" y="1246789"/>
            <a:ext cx="1854000" cy="3225900"/>
          </a:xfrm>
          <a:prstGeom prst="downArrowCallout">
            <a:avLst>
              <a:gd fmla="val 26120" name="adj1"/>
              <a:gd fmla="val 6382" name="adj2"/>
              <a:gd fmla="val 5273" name="adj3"/>
              <a:gd fmla="val 96969" name="adj4"/>
            </a:avLst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ulome With Picture">
  <p:cSld name="Two Culome With Picture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5"/>
          <p:cNvSpPr txBox="1"/>
          <p:nvPr>
            <p:ph idx="12" type="sldNum"/>
          </p:nvPr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1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45"/>
          <p:cNvSpPr/>
          <p:nvPr/>
        </p:nvSpPr>
        <p:spPr>
          <a:xfrm rot="5400000">
            <a:off x="8760966" y="4685355"/>
            <a:ext cx="341769" cy="424295"/>
          </a:xfrm>
          <a:prstGeom prst="flowChartOffpageConnector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5"/>
          <p:cNvSpPr txBox="1"/>
          <p:nvPr/>
        </p:nvSpPr>
        <p:spPr>
          <a:xfrm>
            <a:off x="8732404" y="4755650"/>
            <a:ext cx="45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</a:pPr>
            <a:fld id="{00000000-1234-1234-1234-123412341234}" type="slidenum">
              <a:rPr b="1" i="0" lang="en" sz="1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5"/>
          <p:cNvSpPr txBox="1"/>
          <p:nvPr>
            <p:ph type="title"/>
          </p:nvPr>
        </p:nvSpPr>
        <p:spPr>
          <a:xfrm>
            <a:off x="1752600" y="267471"/>
            <a:ext cx="5638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2" name="Google Shape;252;p45"/>
          <p:cNvSpPr txBox="1"/>
          <p:nvPr>
            <p:ph idx="1" type="body"/>
          </p:nvPr>
        </p:nvSpPr>
        <p:spPr>
          <a:xfrm>
            <a:off x="2514600" y="619462"/>
            <a:ext cx="411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ctr">
              <a:spcBef>
                <a:spcPts val="24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45"/>
          <p:cNvSpPr/>
          <p:nvPr>
            <p:ph idx="2" type="pic"/>
          </p:nvPr>
        </p:nvSpPr>
        <p:spPr>
          <a:xfrm>
            <a:off x="672068" y="1086667"/>
            <a:ext cx="3685200" cy="23043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5"/>
          <p:cNvSpPr/>
          <p:nvPr>
            <p:ph idx="3" type="pic"/>
          </p:nvPr>
        </p:nvSpPr>
        <p:spPr>
          <a:xfrm>
            <a:off x="4789250" y="1084242"/>
            <a:ext cx="3682800" cy="230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1" name="Google Shape;261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2" name="Google Shape;26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5" name="Google Shape;26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69" name="Google Shape;26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3" name="Google Shape;273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0" name="Google Shape;280;p5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1" name="Google Shape;28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4" name="Google Shape;28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8" name="Google Shape;288;p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9" name="Google Shape;289;p5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90" name="Google Shape;29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293" name="Google Shape;29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6" name="Google Shape;296;p5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97" name="Google Shape;29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5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4" name="Google Shape;304;p5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5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6" name="Google Shape;306;p5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7" name="Google Shape;307;p5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8" name="Google Shape;308;p5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5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2" name="Google Shape;312;p5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7" name="Google Shape;317;p6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8" name="Google Shape;318;p6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9" name="Google Shape;319;p6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6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6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4" name="Google Shape;324;p6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5" name="Google Shape;325;p61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6" name="Google Shape;326;p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7" name="Google Shape;327;p61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61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61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6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33" name="Google Shape;333;p6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34" name="Google Shape;334;p6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35" name="Google Shape;335;p6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36" name="Google Shape;336;p6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7" name="Google Shape;337;p6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6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6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0" name="Google Shape;340;p6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6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7" name="Google Shape;347;p6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6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6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0" name="Google Shape;35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6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3" name="Google Shape;353;p6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6" name="Google Shape;356;p6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6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6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9" name="Google Shape;359;p6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6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6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4" name="Google Shape;364;p6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5" name="Google Shape;365;p6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6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6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6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6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6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6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6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6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6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6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Roadmap" type="title">
  <p:cSld name="TITLE">
    <p:bg>
      <p:bgPr>
        <a:solidFill>
          <a:schemeClr val="accent3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8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68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4" name="Google Shape;384;p68"/>
          <p:cNvSpPr txBox="1"/>
          <p:nvPr>
            <p:ph idx="1" type="subTitle"/>
          </p:nvPr>
        </p:nvSpPr>
        <p:spPr>
          <a:xfrm>
            <a:off x="333400" y="2378453"/>
            <a:ext cx="3359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68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6" name="Google Shape;386;p68"/>
          <p:cNvSpPr txBox="1"/>
          <p:nvPr>
            <p:ph idx="3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buNone/>
              <a:defRPr>
                <a:solidFill>
                  <a:schemeClr val="accent3"/>
                </a:solidFill>
              </a:defRPr>
            </a:lvl2pPr>
            <a:lvl3pPr lvl="2" rtl="0" algn="ctr">
              <a:buNone/>
              <a:defRPr>
                <a:solidFill>
                  <a:schemeClr val="accent3"/>
                </a:solidFill>
              </a:defRPr>
            </a:lvl3pPr>
            <a:lvl4pPr lvl="3" rtl="0" algn="ctr">
              <a:buNone/>
              <a:defRPr>
                <a:solidFill>
                  <a:schemeClr val="accent3"/>
                </a:solidFill>
              </a:defRPr>
            </a:lvl4pPr>
            <a:lvl5pPr lvl="4" rtl="0" algn="ctr">
              <a:buNone/>
              <a:defRPr>
                <a:solidFill>
                  <a:schemeClr val="accent3"/>
                </a:solidFill>
              </a:defRPr>
            </a:lvl5pPr>
            <a:lvl6pPr lvl="5" rtl="0" algn="ctr">
              <a:buNone/>
              <a:defRPr>
                <a:solidFill>
                  <a:schemeClr val="accent3"/>
                </a:solidFill>
              </a:defRPr>
            </a:lvl6pPr>
            <a:lvl7pPr lvl="6" rtl="0" algn="ctr">
              <a:buNone/>
              <a:defRPr>
                <a:solidFill>
                  <a:schemeClr val="accent3"/>
                </a:solidFill>
              </a:defRPr>
            </a:lvl7pPr>
            <a:lvl8pPr lvl="7" rtl="0" algn="ctr">
              <a:buNone/>
              <a:defRPr>
                <a:solidFill>
                  <a:schemeClr val="accent3"/>
                </a:solidFill>
              </a:defRPr>
            </a:lvl8pPr>
            <a:lvl9pPr lvl="8" rtl="0" algn="ctr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68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388" name="Google Shape;388;p68"/>
          <p:cNvCxnSpPr/>
          <p:nvPr/>
        </p:nvCxnSpPr>
        <p:spPr>
          <a:xfrm>
            <a:off x="-3150" y="4448151"/>
            <a:ext cx="5232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89" name="Google Shape;389;p68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837">
          <p15:clr>
            <a:srgbClr val="E46962"/>
          </p15:clr>
        </p15:guide>
        <p15:guide id="2" orient="horz" pos="1369">
          <p15:clr>
            <a:srgbClr val="E46962"/>
          </p15:clr>
        </p15:guide>
        <p15:guide id="3" orient="horz" pos="1581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blank">
  <p:cSld name="BLANK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9"/>
          <p:cNvSpPr txBox="1"/>
          <p:nvPr>
            <p:ph type="title"/>
          </p:nvPr>
        </p:nvSpPr>
        <p:spPr>
          <a:xfrm>
            <a:off x="674916" y="289225"/>
            <a:ext cx="65988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6">
    <p:bg>
      <p:bgPr>
        <a:solidFill>
          <a:schemeClr val="lt2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0"/>
          <p:cNvSpPr txBox="1"/>
          <p:nvPr>
            <p:ph type="title"/>
          </p:nvPr>
        </p:nvSpPr>
        <p:spPr>
          <a:xfrm>
            <a:off x="104400" y="3069000"/>
            <a:ext cx="7865400" cy="20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Lexend"/>
              <a:buNone/>
              <a:defRPr sz="8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4" name="Google Shape;394;p70"/>
          <p:cNvSpPr/>
          <p:nvPr>
            <p:ph idx="2" type="pic"/>
          </p:nvPr>
        </p:nvSpPr>
        <p:spPr>
          <a:xfrm>
            <a:off x="248250" y="256400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115">
          <p15:clr>
            <a:srgbClr val="E46962"/>
          </p15:clr>
        </p15:guide>
        <p15:guide id="2" orient="horz" pos="3077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5_1">
    <p:bg>
      <p:bgPr>
        <a:solidFill>
          <a:schemeClr val="accent4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1"/>
          <p:cNvSpPr txBox="1"/>
          <p:nvPr>
            <p:ph type="title"/>
          </p:nvPr>
        </p:nvSpPr>
        <p:spPr>
          <a:xfrm>
            <a:off x="104400" y="150125"/>
            <a:ext cx="78834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Lexend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71"/>
          <p:cNvSpPr/>
          <p:nvPr>
            <p:ph idx="2" type="pic"/>
          </p:nvPr>
        </p:nvSpPr>
        <p:spPr>
          <a:xfrm>
            <a:off x="248250" y="2425338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">
  <p:cSld name="CUSTOM_26_1">
    <p:bg>
      <p:bgPr>
        <a:solidFill>
          <a:schemeClr val="accent4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2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72"/>
          <p:cNvSpPr/>
          <p:nvPr>
            <p:ph idx="2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401" name="Google Shape;401;p72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02" name="Google Shape;402;p72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72"/>
          <p:cNvSpPr txBox="1"/>
          <p:nvPr>
            <p:ph idx="3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 1">
  <p:cSld name="CUSTOM_28">
    <p:bg>
      <p:bgPr>
        <a:solidFill>
          <a:schemeClr val="accent3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3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73"/>
          <p:cNvSpPr txBox="1"/>
          <p:nvPr>
            <p:ph idx="1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07" name="Google Shape;407;p73"/>
          <p:cNvSpPr txBox="1"/>
          <p:nvPr>
            <p:ph idx="2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08" name="Google Shape;408;p73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73"/>
          <p:cNvSpPr/>
          <p:nvPr>
            <p:ph idx="3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and Ipad mockup">
  <p:cSld name="CUSTOM_27">
    <p:bg>
      <p:bgPr>
        <a:solidFill>
          <a:schemeClr val="accent4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4"/>
          <p:cNvSpPr/>
          <p:nvPr>
            <p:ph idx="2" type="pic"/>
          </p:nvPr>
        </p:nvSpPr>
        <p:spPr>
          <a:xfrm>
            <a:off x="869088" y="1528242"/>
            <a:ext cx="1536600" cy="32625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412" name="Google Shape;412;p74"/>
          <p:cNvSpPr/>
          <p:nvPr>
            <p:ph idx="3" type="pic"/>
          </p:nvPr>
        </p:nvSpPr>
        <p:spPr>
          <a:xfrm>
            <a:off x="3913204" y="1528242"/>
            <a:ext cx="4587000" cy="32625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  <p:sp>
        <p:nvSpPr>
          <p:cNvPr id="413" name="Google Shape;413;p74"/>
          <p:cNvSpPr txBox="1"/>
          <p:nvPr>
            <p:ph idx="1" type="body"/>
          </p:nvPr>
        </p:nvSpPr>
        <p:spPr>
          <a:xfrm>
            <a:off x="4574425" y="271875"/>
            <a:ext cx="39087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414" name="Google Shape;414;p74"/>
          <p:cNvSpPr txBox="1"/>
          <p:nvPr>
            <p:ph idx="4" type="body"/>
          </p:nvPr>
        </p:nvSpPr>
        <p:spPr>
          <a:xfrm>
            <a:off x="687900" y="292725"/>
            <a:ext cx="3412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15" name="Google Shape;415;p74"/>
          <p:cNvSpPr txBox="1"/>
          <p:nvPr>
            <p:ph type="title"/>
          </p:nvPr>
        </p:nvSpPr>
        <p:spPr>
          <a:xfrm>
            <a:off x="661575" y="424275"/>
            <a:ext cx="3438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CUSTOM_1_1">
    <p:bg>
      <p:bgPr>
        <a:solidFill>
          <a:schemeClr val="accent3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5"/>
          <p:cNvSpPr txBox="1"/>
          <p:nvPr>
            <p:ph idx="1" type="body"/>
          </p:nvPr>
        </p:nvSpPr>
        <p:spPr>
          <a:xfrm>
            <a:off x="887306" y="2097422"/>
            <a:ext cx="2922000" cy="215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18" name="Google Shape;418;p75"/>
          <p:cNvSpPr txBox="1"/>
          <p:nvPr>
            <p:ph idx="2" type="subTitle"/>
          </p:nvPr>
        </p:nvSpPr>
        <p:spPr>
          <a:xfrm>
            <a:off x="904390" y="1077175"/>
            <a:ext cx="29283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9" name="Google Shape;419;p75"/>
          <p:cNvSpPr txBox="1"/>
          <p:nvPr>
            <p:ph idx="3" type="body"/>
          </p:nvPr>
        </p:nvSpPr>
        <p:spPr>
          <a:xfrm>
            <a:off x="904890" y="901275"/>
            <a:ext cx="2927700" cy="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>
  <p:cSld name="CUSTOM_2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6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22" name="Google Shape;422;p76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76"/>
          <p:cNvSpPr/>
          <p:nvPr>
            <p:ph idx="2" type="pic"/>
          </p:nvPr>
        </p:nvSpPr>
        <p:spPr>
          <a:xfrm>
            <a:off x="1566125" y="1676025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76"/>
          <p:cNvSpPr/>
          <p:nvPr>
            <p:ph idx="3" type="pic"/>
          </p:nvPr>
        </p:nvSpPr>
        <p:spPr>
          <a:xfrm>
            <a:off x="3395300" y="809450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76"/>
          <p:cNvSpPr/>
          <p:nvPr>
            <p:ph idx="4" type="pic"/>
          </p:nvPr>
        </p:nvSpPr>
        <p:spPr>
          <a:xfrm>
            <a:off x="5225075" y="1667413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76"/>
          <p:cNvSpPr/>
          <p:nvPr>
            <p:ph idx="5" type="pic"/>
          </p:nvPr>
        </p:nvSpPr>
        <p:spPr>
          <a:xfrm>
            <a:off x="7053150" y="794238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76"/>
          <p:cNvSpPr/>
          <p:nvPr>
            <p:ph idx="6" type="pic"/>
          </p:nvPr>
        </p:nvSpPr>
        <p:spPr>
          <a:xfrm>
            <a:off x="2610832" y="3971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76"/>
          <p:cNvSpPr/>
          <p:nvPr>
            <p:ph idx="7" type="pic"/>
          </p:nvPr>
        </p:nvSpPr>
        <p:spPr>
          <a:xfrm>
            <a:off x="4435557" y="3089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76"/>
          <p:cNvSpPr/>
          <p:nvPr>
            <p:ph idx="8" type="pic"/>
          </p:nvPr>
        </p:nvSpPr>
        <p:spPr>
          <a:xfrm>
            <a:off x="6267632" y="3957713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76"/>
          <p:cNvSpPr/>
          <p:nvPr>
            <p:ph idx="9" type="pic"/>
          </p:nvPr>
        </p:nvSpPr>
        <p:spPr>
          <a:xfrm>
            <a:off x="8095257" y="3103050"/>
            <a:ext cx="314700" cy="31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+ 1 Image">
  <p:cSld name="CUSTOM_3">
    <p:bg>
      <p:bgPr>
        <a:solidFill>
          <a:schemeClr val="lt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7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33" name="Google Shape;433;p77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4" name="Google Shape;434;p77"/>
          <p:cNvSpPr/>
          <p:nvPr>
            <p:ph idx="2" type="pic"/>
          </p:nvPr>
        </p:nvSpPr>
        <p:spPr>
          <a:xfrm>
            <a:off x="5543049" y="659425"/>
            <a:ext cx="28830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77"/>
          <p:cNvSpPr txBox="1"/>
          <p:nvPr>
            <p:ph idx="3" type="body"/>
          </p:nvPr>
        </p:nvSpPr>
        <p:spPr>
          <a:xfrm>
            <a:off x="709950" y="2234700"/>
            <a:ext cx="3732600" cy="17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CUSTOM_4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8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38" name="Google Shape;438;p78"/>
          <p:cNvSpPr txBox="1"/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78"/>
          <p:cNvSpPr txBox="1"/>
          <p:nvPr>
            <p:ph idx="2" type="body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40" name="Google Shape;440;p78"/>
          <p:cNvSpPr txBox="1"/>
          <p:nvPr>
            <p:ph idx="3" type="body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41" name="Google Shape;441;p78"/>
          <p:cNvSpPr txBox="1"/>
          <p:nvPr>
            <p:ph idx="4" type="body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42" name="Google Shape;442;p78"/>
          <p:cNvSpPr txBox="1"/>
          <p:nvPr>
            <p:ph idx="5" type="body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43" name="Google Shape;443;p78"/>
          <p:cNvSpPr/>
          <p:nvPr>
            <p:ph idx="6" type="pic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78"/>
          <p:cNvSpPr/>
          <p:nvPr>
            <p:ph idx="7" type="pic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5" name="Google Shape;445;p78"/>
          <p:cNvSpPr/>
          <p:nvPr>
            <p:ph idx="8" type="pic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6" name="Google Shape;446;p78"/>
          <p:cNvSpPr/>
          <p:nvPr>
            <p:ph idx="9" type="pic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ntt Chart">
  <p:cSld name="CUSTOM_6">
    <p:bg>
      <p:bgPr>
        <a:solidFill>
          <a:schemeClr val="l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9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49" name="Google Shape;449;p79"/>
          <p:cNvSpPr txBox="1"/>
          <p:nvPr>
            <p:ph idx="2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7">
    <p:bg>
      <p:bgPr>
        <a:solidFill>
          <a:schemeClr val="accent4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52" name="Google Shape;452;p80"/>
          <p:cNvSpPr txBox="1"/>
          <p:nvPr>
            <p:ph idx="2" type="subTitle"/>
          </p:nvPr>
        </p:nvSpPr>
        <p:spPr>
          <a:xfrm>
            <a:off x="689050" y="531808"/>
            <a:ext cx="3233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3" name="Google Shape;453;p80"/>
          <p:cNvSpPr/>
          <p:nvPr>
            <p:ph idx="3" type="pic"/>
          </p:nvPr>
        </p:nvSpPr>
        <p:spPr>
          <a:xfrm>
            <a:off x="863700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80"/>
          <p:cNvSpPr txBox="1"/>
          <p:nvPr>
            <p:ph idx="4" type="body"/>
          </p:nvPr>
        </p:nvSpPr>
        <p:spPr>
          <a:xfrm>
            <a:off x="1774150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55" name="Google Shape;455;p80"/>
          <p:cNvSpPr txBox="1"/>
          <p:nvPr>
            <p:ph idx="5" type="subTitle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6" name="Google Shape;456;p80"/>
          <p:cNvSpPr/>
          <p:nvPr>
            <p:ph idx="6" type="pic"/>
          </p:nvPr>
        </p:nvSpPr>
        <p:spPr>
          <a:xfrm>
            <a:off x="5120475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80"/>
          <p:cNvSpPr txBox="1"/>
          <p:nvPr>
            <p:ph idx="7" type="body"/>
          </p:nvPr>
        </p:nvSpPr>
        <p:spPr>
          <a:xfrm>
            <a:off x="6030925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58" name="Google Shape;458;p80"/>
          <p:cNvSpPr txBox="1"/>
          <p:nvPr>
            <p:ph idx="8" type="subTitle"/>
          </p:nvPr>
        </p:nvSpPr>
        <p:spPr>
          <a:xfrm>
            <a:off x="6031725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9" name="Google Shape;459;p80"/>
          <p:cNvSpPr/>
          <p:nvPr>
            <p:ph idx="9" type="pic"/>
          </p:nvPr>
        </p:nvSpPr>
        <p:spPr>
          <a:xfrm>
            <a:off x="863700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80"/>
          <p:cNvSpPr txBox="1"/>
          <p:nvPr>
            <p:ph idx="13" type="body"/>
          </p:nvPr>
        </p:nvSpPr>
        <p:spPr>
          <a:xfrm>
            <a:off x="1774150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61" name="Google Shape;461;p80"/>
          <p:cNvSpPr txBox="1"/>
          <p:nvPr>
            <p:ph idx="14" type="subTitle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2" name="Google Shape;462;p80"/>
          <p:cNvSpPr/>
          <p:nvPr>
            <p:ph idx="15" type="pic"/>
          </p:nvPr>
        </p:nvSpPr>
        <p:spPr>
          <a:xfrm>
            <a:off x="5120475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80"/>
          <p:cNvSpPr txBox="1"/>
          <p:nvPr>
            <p:ph idx="16" type="body"/>
          </p:nvPr>
        </p:nvSpPr>
        <p:spPr>
          <a:xfrm>
            <a:off x="6030925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64" name="Google Shape;464;p80"/>
          <p:cNvSpPr txBox="1"/>
          <p:nvPr>
            <p:ph idx="17" type="subTitle"/>
          </p:nvPr>
        </p:nvSpPr>
        <p:spPr>
          <a:xfrm>
            <a:off x="6031725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1">
  <p:cSld name="CUSTOM_8">
    <p:bg>
      <p:bgPr>
        <a:solidFill>
          <a:schemeClr val="accent3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1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81"/>
          <p:cNvSpPr/>
          <p:nvPr>
            <p:ph idx="2" type="pic"/>
          </p:nvPr>
        </p:nvSpPr>
        <p:spPr>
          <a:xfrm>
            <a:off x="12246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81"/>
          <p:cNvSpPr/>
          <p:nvPr>
            <p:ph idx="3" type="pic"/>
          </p:nvPr>
        </p:nvSpPr>
        <p:spPr>
          <a:xfrm>
            <a:off x="31050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81"/>
          <p:cNvSpPr/>
          <p:nvPr>
            <p:ph idx="4" type="pic"/>
          </p:nvPr>
        </p:nvSpPr>
        <p:spPr>
          <a:xfrm>
            <a:off x="499848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81"/>
          <p:cNvSpPr/>
          <p:nvPr>
            <p:ph idx="5" type="pic"/>
          </p:nvPr>
        </p:nvSpPr>
        <p:spPr>
          <a:xfrm>
            <a:off x="689193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81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2">
  <p:cSld name="CUSTOM_9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2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82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alendar">
  <p:cSld name="CUSTOM_10">
    <p:bg>
      <p:bgPr>
        <a:solidFill>
          <a:schemeClr val="lt1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3"/>
          <p:cNvSpPr/>
          <p:nvPr/>
        </p:nvSpPr>
        <p:spPr>
          <a:xfrm>
            <a:off x="4700100" y="0"/>
            <a:ext cx="4443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78" name="Google Shape;478;p83"/>
          <p:cNvSpPr txBox="1"/>
          <p:nvPr>
            <p:ph idx="2" type="subTitle"/>
          </p:nvPr>
        </p:nvSpPr>
        <p:spPr>
          <a:xfrm>
            <a:off x="689050" y="531800"/>
            <a:ext cx="1507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83"/>
          <p:cNvSpPr/>
          <p:nvPr>
            <p:ph idx="3" type="pic"/>
          </p:nvPr>
        </p:nvSpPr>
        <p:spPr>
          <a:xfrm>
            <a:off x="5299922" y="644675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83"/>
          <p:cNvSpPr/>
          <p:nvPr>
            <p:ph idx="4" type="pic"/>
          </p:nvPr>
        </p:nvSpPr>
        <p:spPr>
          <a:xfrm>
            <a:off x="5299922" y="1678237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83"/>
          <p:cNvSpPr txBox="1"/>
          <p:nvPr>
            <p:ph idx="5" type="body"/>
          </p:nvPr>
        </p:nvSpPr>
        <p:spPr>
          <a:xfrm>
            <a:off x="5529550" y="557100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82" name="Google Shape;482;p83"/>
          <p:cNvSpPr txBox="1"/>
          <p:nvPr>
            <p:ph idx="6" type="body"/>
          </p:nvPr>
        </p:nvSpPr>
        <p:spPr>
          <a:xfrm>
            <a:off x="5529554" y="678452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83" name="Google Shape;483;p83"/>
          <p:cNvSpPr txBox="1"/>
          <p:nvPr>
            <p:ph idx="7" type="body"/>
          </p:nvPr>
        </p:nvSpPr>
        <p:spPr>
          <a:xfrm>
            <a:off x="5529550" y="1636031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84" name="Google Shape;484;p83"/>
          <p:cNvSpPr txBox="1"/>
          <p:nvPr>
            <p:ph idx="8" type="body"/>
          </p:nvPr>
        </p:nvSpPr>
        <p:spPr>
          <a:xfrm>
            <a:off x="5529554" y="1757384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85" name="Google Shape;485;p83"/>
          <p:cNvSpPr/>
          <p:nvPr>
            <p:ph idx="9" type="pic"/>
          </p:nvPr>
        </p:nvSpPr>
        <p:spPr>
          <a:xfrm>
            <a:off x="5299922" y="276526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83"/>
          <p:cNvSpPr txBox="1"/>
          <p:nvPr>
            <p:ph idx="13" type="body"/>
          </p:nvPr>
        </p:nvSpPr>
        <p:spPr>
          <a:xfrm>
            <a:off x="5529550" y="2723054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87" name="Google Shape;487;p83"/>
          <p:cNvSpPr txBox="1"/>
          <p:nvPr>
            <p:ph idx="14" type="body"/>
          </p:nvPr>
        </p:nvSpPr>
        <p:spPr>
          <a:xfrm>
            <a:off x="5529554" y="2844406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488" name="Google Shape;488;p83"/>
          <p:cNvSpPr/>
          <p:nvPr>
            <p:ph idx="15" type="pic"/>
          </p:nvPr>
        </p:nvSpPr>
        <p:spPr>
          <a:xfrm>
            <a:off x="5299922" y="385261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83"/>
          <p:cNvSpPr txBox="1"/>
          <p:nvPr>
            <p:ph idx="16" type="body"/>
          </p:nvPr>
        </p:nvSpPr>
        <p:spPr>
          <a:xfrm>
            <a:off x="5529550" y="3810398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0" name="Google Shape;490;p83"/>
          <p:cNvSpPr txBox="1"/>
          <p:nvPr>
            <p:ph idx="17" type="body"/>
          </p:nvPr>
        </p:nvSpPr>
        <p:spPr>
          <a:xfrm>
            <a:off x="5529554" y="3931751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">
  <p:cSld name="CUSTOM_11">
    <p:bg>
      <p:bgPr>
        <a:solidFill>
          <a:schemeClr val="accent3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4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3" name="Google Shape;493;p84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84"/>
          <p:cNvSpPr txBox="1"/>
          <p:nvPr>
            <p:ph idx="2" type="body"/>
          </p:nvPr>
        </p:nvSpPr>
        <p:spPr>
          <a:xfrm>
            <a:off x="687900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5" name="Google Shape;495;p84"/>
          <p:cNvSpPr txBox="1"/>
          <p:nvPr>
            <p:ph idx="3" type="body"/>
          </p:nvPr>
        </p:nvSpPr>
        <p:spPr>
          <a:xfrm>
            <a:off x="2262132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6" name="Google Shape;496;p84"/>
          <p:cNvSpPr txBox="1"/>
          <p:nvPr>
            <p:ph idx="4" type="body"/>
          </p:nvPr>
        </p:nvSpPr>
        <p:spPr>
          <a:xfrm>
            <a:off x="3827041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7" name="Google Shape;497;p84"/>
          <p:cNvSpPr txBox="1"/>
          <p:nvPr>
            <p:ph idx="5" type="body"/>
          </p:nvPr>
        </p:nvSpPr>
        <p:spPr>
          <a:xfrm>
            <a:off x="5397375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8" name="Google Shape;498;p84"/>
          <p:cNvSpPr txBox="1"/>
          <p:nvPr>
            <p:ph idx="6" type="body"/>
          </p:nvPr>
        </p:nvSpPr>
        <p:spPr>
          <a:xfrm>
            <a:off x="6956568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499" name="Google Shape;499;p84"/>
          <p:cNvSpPr/>
          <p:nvPr>
            <p:ph idx="7" type="pic"/>
          </p:nvPr>
        </p:nvSpPr>
        <p:spPr>
          <a:xfrm>
            <a:off x="7279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84"/>
          <p:cNvSpPr/>
          <p:nvPr>
            <p:ph idx="8" type="pic"/>
          </p:nvPr>
        </p:nvSpPr>
        <p:spPr>
          <a:xfrm>
            <a:off x="7279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84"/>
          <p:cNvSpPr/>
          <p:nvPr>
            <p:ph idx="9" type="pic"/>
          </p:nvPr>
        </p:nvSpPr>
        <p:spPr>
          <a:xfrm>
            <a:off x="7279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84"/>
          <p:cNvSpPr/>
          <p:nvPr>
            <p:ph idx="13" type="pic"/>
          </p:nvPr>
        </p:nvSpPr>
        <p:spPr>
          <a:xfrm>
            <a:off x="7279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84"/>
          <p:cNvSpPr/>
          <p:nvPr>
            <p:ph idx="14" type="pic"/>
          </p:nvPr>
        </p:nvSpPr>
        <p:spPr>
          <a:xfrm>
            <a:off x="229647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84"/>
          <p:cNvSpPr/>
          <p:nvPr>
            <p:ph idx="15" type="pic"/>
          </p:nvPr>
        </p:nvSpPr>
        <p:spPr>
          <a:xfrm>
            <a:off x="386500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84"/>
          <p:cNvSpPr/>
          <p:nvPr>
            <p:ph idx="16" type="pic"/>
          </p:nvPr>
        </p:nvSpPr>
        <p:spPr>
          <a:xfrm>
            <a:off x="543352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84"/>
          <p:cNvSpPr/>
          <p:nvPr>
            <p:ph idx="17" type="pic"/>
          </p:nvPr>
        </p:nvSpPr>
        <p:spPr>
          <a:xfrm>
            <a:off x="70020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84"/>
          <p:cNvSpPr/>
          <p:nvPr>
            <p:ph idx="18" type="pic"/>
          </p:nvPr>
        </p:nvSpPr>
        <p:spPr>
          <a:xfrm>
            <a:off x="229647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84"/>
          <p:cNvSpPr/>
          <p:nvPr>
            <p:ph idx="19" type="pic"/>
          </p:nvPr>
        </p:nvSpPr>
        <p:spPr>
          <a:xfrm>
            <a:off x="229647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84"/>
          <p:cNvSpPr/>
          <p:nvPr>
            <p:ph idx="20" type="pic"/>
          </p:nvPr>
        </p:nvSpPr>
        <p:spPr>
          <a:xfrm>
            <a:off x="229647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84"/>
          <p:cNvSpPr/>
          <p:nvPr>
            <p:ph idx="21" type="pic"/>
          </p:nvPr>
        </p:nvSpPr>
        <p:spPr>
          <a:xfrm>
            <a:off x="386500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84"/>
          <p:cNvSpPr/>
          <p:nvPr>
            <p:ph idx="22" type="pic"/>
          </p:nvPr>
        </p:nvSpPr>
        <p:spPr>
          <a:xfrm>
            <a:off x="386500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84"/>
          <p:cNvSpPr/>
          <p:nvPr>
            <p:ph idx="23" type="pic"/>
          </p:nvPr>
        </p:nvSpPr>
        <p:spPr>
          <a:xfrm>
            <a:off x="386500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84"/>
          <p:cNvSpPr/>
          <p:nvPr>
            <p:ph idx="24" type="pic"/>
          </p:nvPr>
        </p:nvSpPr>
        <p:spPr>
          <a:xfrm>
            <a:off x="543352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84"/>
          <p:cNvSpPr/>
          <p:nvPr>
            <p:ph idx="25" type="pic"/>
          </p:nvPr>
        </p:nvSpPr>
        <p:spPr>
          <a:xfrm>
            <a:off x="543352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84"/>
          <p:cNvSpPr/>
          <p:nvPr>
            <p:ph idx="26" type="pic"/>
          </p:nvPr>
        </p:nvSpPr>
        <p:spPr>
          <a:xfrm>
            <a:off x="543352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84"/>
          <p:cNvSpPr/>
          <p:nvPr>
            <p:ph idx="27" type="pic"/>
          </p:nvPr>
        </p:nvSpPr>
        <p:spPr>
          <a:xfrm>
            <a:off x="70020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84"/>
          <p:cNvSpPr/>
          <p:nvPr>
            <p:ph idx="28" type="pic"/>
          </p:nvPr>
        </p:nvSpPr>
        <p:spPr>
          <a:xfrm>
            <a:off x="70020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84"/>
          <p:cNvSpPr/>
          <p:nvPr>
            <p:ph idx="29" type="pic"/>
          </p:nvPr>
        </p:nvSpPr>
        <p:spPr>
          <a:xfrm>
            <a:off x="70020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Load Time Optimization">
  <p:cSld name="CUSTOM_13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5"/>
          <p:cNvSpPr/>
          <p:nvPr>
            <p:ph idx="2" type="pic"/>
          </p:nvPr>
        </p:nvSpPr>
        <p:spPr>
          <a:xfrm>
            <a:off x="7910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8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22" name="Google Shape;522;p85"/>
          <p:cNvSpPr txBox="1"/>
          <p:nvPr>
            <p:ph type="title"/>
          </p:nvPr>
        </p:nvSpPr>
        <p:spPr>
          <a:xfrm>
            <a:off x="661576" y="424275"/>
            <a:ext cx="7890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85"/>
          <p:cNvSpPr txBox="1"/>
          <p:nvPr>
            <p:ph idx="3" type="body"/>
          </p:nvPr>
        </p:nvSpPr>
        <p:spPr>
          <a:xfrm>
            <a:off x="1890825" y="3120325"/>
            <a:ext cx="1186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24" name="Google Shape;524;p85"/>
          <p:cNvSpPr txBox="1"/>
          <p:nvPr>
            <p:ph idx="4" type="body"/>
          </p:nvPr>
        </p:nvSpPr>
        <p:spPr>
          <a:xfrm>
            <a:off x="1890825" y="3446750"/>
            <a:ext cx="1186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25" name="Google Shape;525;p85"/>
          <p:cNvSpPr/>
          <p:nvPr>
            <p:ph idx="5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85"/>
          <p:cNvSpPr txBox="1"/>
          <p:nvPr>
            <p:ph idx="6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27" name="Google Shape;527;p85"/>
          <p:cNvSpPr txBox="1"/>
          <p:nvPr>
            <p:ph idx="7" type="body"/>
          </p:nvPr>
        </p:nvSpPr>
        <p:spPr>
          <a:xfrm>
            <a:off x="5901025" y="2091050"/>
            <a:ext cx="27621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28" name="Google Shape;528;p85"/>
          <p:cNvSpPr txBox="1"/>
          <p:nvPr>
            <p:ph idx="8" type="body"/>
          </p:nvPr>
        </p:nvSpPr>
        <p:spPr>
          <a:xfrm>
            <a:off x="5908675" y="3140275"/>
            <a:ext cx="27123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Collaboration">
  <p:cSld name="CUSTOM_13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6"/>
          <p:cNvSpPr/>
          <p:nvPr>
            <p:ph idx="2" type="pic"/>
          </p:nvPr>
        </p:nvSpPr>
        <p:spPr>
          <a:xfrm>
            <a:off x="287610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86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32" name="Google Shape;532;p86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86"/>
          <p:cNvSpPr/>
          <p:nvPr>
            <p:ph idx="3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86"/>
          <p:cNvSpPr txBox="1"/>
          <p:nvPr>
            <p:ph idx="4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35" name="Google Shape;535;p86"/>
          <p:cNvSpPr txBox="1"/>
          <p:nvPr>
            <p:ph idx="5" type="body"/>
          </p:nvPr>
        </p:nvSpPr>
        <p:spPr>
          <a:xfrm>
            <a:off x="5901025" y="2091050"/>
            <a:ext cx="2458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36" name="Google Shape;536;p86"/>
          <p:cNvSpPr txBox="1"/>
          <p:nvPr>
            <p:ph idx="6" type="body"/>
          </p:nvPr>
        </p:nvSpPr>
        <p:spPr>
          <a:xfrm>
            <a:off x="5908675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HitGub Integration">
  <p:cSld name="CUSTOM_13_1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7"/>
          <p:cNvSpPr/>
          <p:nvPr>
            <p:ph idx="2" type="pic"/>
          </p:nvPr>
        </p:nvSpPr>
        <p:spPr>
          <a:xfrm>
            <a:off x="4960075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87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40" name="Google Shape;540;p87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87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42" name="Google Shape;542;p87"/>
          <p:cNvSpPr txBox="1"/>
          <p:nvPr>
            <p:ph idx="5" type="body"/>
          </p:nvPr>
        </p:nvSpPr>
        <p:spPr>
          <a:xfrm>
            <a:off x="676500" y="2091050"/>
            <a:ext cx="2742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43" name="Google Shape;543;p87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44" name="Google Shape;544;p87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Event Tracking">
  <p:cSld name="CUSTOM_13_1_1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8"/>
          <p:cNvSpPr/>
          <p:nvPr>
            <p:ph idx="2" type="pic"/>
          </p:nvPr>
        </p:nvSpPr>
        <p:spPr>
          <a:xfrm>
            <a:off x="70537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88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48" name="Google Shape;548;p88"/>
          <p:cNvSpPr txBox="1"/>
          <p:nvPr>
            <p:ph type="title"/>
          </p:nvPr>
        </p:nvSpPr>
        <p:spPr>
          <a:xfrm>
            <a:off x="661576" y="424275"/>
            <a:ext cx="7855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88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88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51" name="Google Shape;551;p88"/>
          <p:cNvSpPr txBox="1"/>
          <p:nvPr>
            <p:ph idx="5" type="body"/>
          </p:nvPr>
        </p:nvSpPr>
        <p:spPr>
          <a:xfrm>
            <a:off x="676500" y="2091050"/>
            <a:ext cx="2677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52" name="Google Shape;552;p88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- Risks">
  <p:cSld name="CUSTOM_14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9"/>
          <p:cNvSpPr/>
          <p:nvPr>
            <p:ph idx="2" type="pic"/>
          </p:nvPr>
        </p:nvSpPr>
        <p:spPr>
          <a:xfrm>
            <a:off x="5215175" y="0"/>
            <a:ext cx="392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5" name="Google Shape;555;p89"/>
          <p:cNvSpPr txBox="1"/>
          <p:nvPr>
            <p:ph idx="1" type="body"/>
          </p:nvPr>
        </p:nvSpPr>
        <p:spPr>
          <a:xfrm>
            <a:off x="687900" y="292725"/>
            <a:ext cx="3755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56" name="Google Shape;556;p89"/>
          <p:cNvSpPr txBox="1"/>
          <p:nvPr>
            <p:ph idx="3" type="subTitle"/>
          </p:nvPr>
        </p:nvSpPr>
        <p:spPr>
          <a:xfrm>
            <a:off x="689235" y="531804"/>
            <a:ext cx="3754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7" name="Google Shape;557;p89"/>
          <p:cNvSpPr txBox="1"/>
          <p:nvPr>
            <p:ph idx="4" type="body"/>
          </p:nvPr>
        </p:nvSpPr>
        <p:spPr>
          <a:xfrm>
            <a:off x="688425" y="941550"/>
            <a:ext cx="3755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58" name="Google Shape;558;p89"/>
          <p:cNvSpPr txBox="1"/>
          <p:nvPr>
            <p:ph idx="5" type="body"/>
          </p:nvPr>
        </p:nvSpPr>
        <p:spPr>
          <a:xfrm>
            <a:off x="1129400" y="2768850"/>
            <a:ext cx="3314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6">
    <p:bg>
      <p:bgPr>
        <a:solidFill>
          <a:schemeClr val="accent3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61" name="Google Shape;561;p90"/>
          <p:cNvSpPr txBox="1"/>
          <p:nvPr>
            <p:ph type="title"/>
          </p:nvPr>
        </p:nvSpPr>
        <p:spPr>
          <a:xfrm>
            <a:off x="646035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90"/>
          <p:cNvSpPr txBox="1"/>
          <p:nvPr>
            <p:ph idx="2" type="body"/>
          </p:nvPr>
        </p:nvSpPr>
        <p:spPr>
          <a:xfrm>
            <a:off x="688425" y="1433475"/>
            <a:ext cx="2867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63" name="Google Shape;563;p90"/>
          <p:cNvSpPr txBox="1"/>
          <p:nvPr>
            <p:ph idx="3" type="body"/>
          </p:nvPr>
        </p:nvSpPr>
        <p:spPr>
          <a:xfrm>
            <a:off x="4724950" y="3620575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64" name="Google Shape;564;p90"/>
          <p:cNvSpPr txBox="1"/>
          <p:nvPr>
            <p:ph idx="4" type="body"/>
          </p:nvPr>
        </p:nvSpPr>
        <p:spPr>
          <a:xfrm>
            <a:off x="4724950" y="2596937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65" name="Google Shape;565;p90"/>
          <p:cNvSpPr txBox="1"/>
          <p:nvPr>
            <p:ph idx="5" type="body"/>
          </p:nvPr>
        </p:nvSpPr>
        <p:spPr>
          <a:xfrm>
            <a:off x="4724950" y="1567600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CUSTOM_17">
    <p:bg>
      <p:bgPr>
        <a:solidFill>
          <a:schemeClr val="accent3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1"/>
          <p:cNvSpPr txBox="1"/>
          <p:nvPr>
            <p:ph type="title"/>
          </p:nvPr>
        </p:nvSpPr>
        <p:spPr>
          <a:xfrm>
            <a:off x="667650" y="230375"/>
            <a:ext cx="76923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8" name="Google Shape;568;p91"/>
          <p:cNvSpPr txBox="1"/>
          <p:nvPr>
            <p:ph idx="2" type="title"/>
          </p:nvPr>
        </p:nvSpPr>
        <p:spPr>
          <a:xfrm>
            <a:off x="667650" y="3872300"/>
            <a:ext cx="76923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8">
    <p:bg>
      <p:bgPr>
        <a:solidFill>
          <a:schemeClr val="accent3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2"/>
          <p:cNvSpPr/>
          <p:nvPr>
            <p:ph idx="2" type="pic"/>
          </p:nvPr>
        </p:nvSpPr>
        <p:spPr>
          <a:xfrm>
            <a:off x="4700175" y="0"/>
            <a:ext cx="4443900" cy="29910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92"/>
          <p:cNvSpPr txBox="1"/>
          <p:nvPr>
            <p:ph type="title"/>
          </p:nvPr>
        </p:nvSpPr>
        <p:spPr>
          <a:xfrm>
            <a:off x="407350" y="3366041"/>
            <a:ext cx="82701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cxnSp>
        <p:nvCxnSpPr>
          <p:cNvPr id="572" name="Google Shape;572;p92"/>
          <p:cNvCxnSpPr/>
          <p:nvPr/>
        </p:nvCxnSpPr>
        <p:spPr>
          <a:xfrm>
            <a:off x="-3150" y="677850"/>
            <a:ext cx="5232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">
    <p:bg>
      <p:bgPr>
        <a:solidFill>
          <a:schemeClr val="accent3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3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575" name="Google Shape;575;p93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576" name="Google Shape;576;p93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19_2">
    <p:bg>
      <p:bgPr>
        <a:solidFill>
          <a:schemeClr val="lt2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4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579" name="Google Shape;579;p94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580" name="Google Shape;580;p94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9_1">
    <p:bg>
      <p:bgPr>
        <a:solidFill>
          <a:schemeClr val="accent4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95"/>
          <p:cNvSpPr/>
          <p:nvPr/>
        </p:nvSpPr>
        <p:spPr>
          <a:xfrm rot="-5400000">
            <a:off x="3536425" y="-458475"/>
            <a:ext cx="5185800" cy="6064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95"/>
          <p:cNvSpPr/>
          <p:nvPr/>
        </p:nvSpPr>
        <p:spPr>
          <a:xfrm rot="-5400000">
            <a:off x="-1042850" y="1013775"/>
            <a:ext cx="51783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95"/>
          <p:cNvSpPr/>
          <p:nvPr>
            <p:ph idx="2" type="pic"/>
          </p:nvPr>
        </p:nvSpPr>
        <p:spPr>
          <a:xfrm>
            <a:off x="777750" y="938695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585" name="Google Shape;585;p95"/>
          <p:cNvSpPr/>
          <p:nvPr>
            <p:ph idx="3" type="pic"/>
          </p:nvPr>
        </p:nvSpPr>
        <p:spPr>
          <a:xfrm>
            <a:off x="4115400" y="921995"/>
            <a:ext cx="4127700" cy="23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0">
    <p:bg>
      <p:bgPr>
        <a:solidFill>
          <a:schemeClr val="lt2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6"/>
          <p:cNvSpPr/>
          <p:nvPr>
            <p:ph idx="2" type="pic"/>
          </p:nvPr>
        </p:nvSpPr>
        <p:spPr>
          <a:xfrm>
            <a:off x="936975" y="869000"/>
            <a:ext cx="1607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588" name="Google Shape;588;p96"/>
          <p:cNvSpPr/>
          <p:nvPr>
            <p:ph idx="3" type="pic"/>
          </p:nvPr>
        </p:nvSpPr>
        <p:spPr>
          <a:xfrm>
            <a:off x="3514600" y="869000"/>
            <a:ext cx="4798800" cy="34131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1">
    <p:bg>
      <p:bgPr>
        <a:solidFill>
          <a:schemeClr val="lt1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97"/>
          <p:cNvSpPr/>
          <p:nvPr>
            <p:ph idx="2" type="pic"/>
          </p:nvPr>
        </p:nvSpPr>
        <p:spPr>
          <a:xfrm>
            <a:off x="2068775" y="933200"/>
            <a:ext cx="4994100" cy="31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ne mockup">
  <p:cSld name="CUSTOM_22_1">
    <p:bg>
      <p:bgPr>
        <a:solidFill>
          <a:schemeClr val="accent3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8"/>
          <p:cNvSpPr/>
          <p:nvPr>
            <p:ph idx="2" type="pic"/>
          </p:nvPr>
        </p:nvSpPr>
        <p:spPr>
          <a:xfrm>
            <a:off x="6682707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593" name="Google Shape;593;p98"/>
          <p:cNvSpPr/>
          <p:nvPr>
            <p:ph idx="3" type="pic"/>
          </p:nvPr>
        </p:nvSpPr>
        <p:spPr>
          <a:xfrm>
            <a:off x="4143672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594" name="Google Shape;594;p98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95" name="Google Shape;595;p98"/>
          <p:cNvSpPr txBox="1"/>
          <p:nvPr>
            <p:ph idx="4" type="body"/>
          </p:nvPr>
        </p:nvSpPr>
        <p:spPr>
          <a:xfrm>
            <a:off x="689250" y="3870075"/>
            <a:ext cx="1968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96" name="Google Shape;596;p98"/>
          <p:cNvSpPr txBox="1"/>
          <p:nvPr>
            <p:ph idx="5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Devices mockup">
  <p:cSld name="CUSTOM_24_1">
    <p:bg>
      <p:bgPr>
        <a:solidFill>
          <a:schemeClr val="lt1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9"/>
          <p:cNvSpPr txBox="1"/>
          <p:nvPr>
            <p:ph idx="1" type="body"/>
          </p:nvPr>
        </p:nvSpPr>
        <p:spPr>
          <a:xfrm>
            <a:off x="687900" y="292725"/>
            <a:ext cx="1471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99" name="Google Shape;599;p99"/>
          <p:cNvSpPr txBox="1"/>
          <p:nvPr>
            <p:ph idx="2" type="body"/>
          </p:nvPr>
        </p:nvSpPr>
        <p:spPr>
          <a:xfrm>
            <a:off x="5484300" y="292725"/>
            <a:ext cx="2997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84.xml"/><Relationship Id="rId44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86.xml"/><Relationship Id="rId46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88.xml"/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48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0.xml"/><Relationship Id="rId49" Type="http://schemas.openxmlformats.org/officeDocument/2006/relationships/slideLayout" Target="../slideLayouts/slideLayout92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79.xml"/><Relationship Id="rId39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2.xml"/><Relationship Id="rId51" Type="http://schemas.openxmlformats.org/officeDocument/2006/relationships/slideLayout" Target="../slideLayouts/slideLayout94.xml"/><Relationship Id="rId50" Type="http://schemas.openxmlformats.org/officeDocument/2006/relationships/slideLayout" Target="../slideLayouts/slideLayout93.xml"/><Relationship Id="rId53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54" Type="http://schemas.openxmlformats.org/officeDocument/2006/relationships/theme" Target="../theme/theme4.xml"/><Relationship Id="rId13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6"/>
          <p:cNvSpPr txBox="1"/>
          <p:nvPr>
            <p:ph type="title"/>
          </p:nvPr>
        </p:nvSpPr>
        <p:spPr>
          <a:xfrm>
            <a:off x="163200" y="76200"/>
            <a:ext cx="84579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exend Light"/>
              <a:buNone/>
              <a:defRPr sz="4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136825" y="2540475"/>
            <a:ext cx="42093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  <a:defRPr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Char char="○"/>
              <a:defRPr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exend"/>
              <a:buChar char="●"/>
              <a:defRPr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"/>
              <a:buChar char="■"/>
              <a:defRPr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Char char="●"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"/>
              <a:buChar char="○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722" r:id="rId32"/>
    <p:sldLayoutId id="2147483723" r:id="rId33"/>
    <p:sldLayoutId id="2147483724" r:id="rId34"/>
    <p:sldLayoutId id="2147483725" r:id="rId35"/>
    <p:sldLayoutId id="2147483726" r:id="rId36"/>
    <p:sldLayoutId id="2147483727" r:id="rId37"/>
    <p:sldLayoutId id="2147483728" r:id="rId38"/>
    <p:sldLayoutId id="2147483729" r:id="rId39"/>
    <p:sldLayoutId id="2147483730" r:id="rId40"/>
    <p:sldLayoutId id="2147483731" r:id="rId41"/>
    <p:sldLayoutId id="2147483732" r:id="rId42"/>
    <p:sldLayoutId id="2147483733" r:id="rId43"/>
    <p:sldLayoutId id="2147483734" r:id="rId44"/>
    <p:sldLayoutId id="2147483735" r:id="rId45"/>
    <p:sldLayoutId id="2147483736" r:id="rId46"/>
    <p:sldLayoutId id="2147483737" r:id="rId47"/>
    <p:sldLayoutId id="2147483738" r:id="rId48"/>
    <p:sldLayoutId id="2147483739" r:id="rId49"/>
    <p:sldLayoutId id="2147483740" r:id="rId50"/>
    <p:sldLayoutId id="2147483741" r:id="rId51"/>
    <p:sldLayoutId id="2147483742" r:id="rId52"/>
    <p:sldLayoutId id="2147483743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9">
          <p15:clr>
            <a:srgbClr val="E46962"/>
          </p15:clr>
        </p15:guide>
        <p15:guide id="2" pos="494">
          <p15:clr>
            <a:srgbClr val="E46962"/>
          </p15:clr>
        </p15:guide>
        <p15:guide id="3" pos="823">
          <p15:clr>
            <a:srgbClr val="E46962"/>
          </p15:clr>
        </p15:guide>
        <p15:guide id="4" pos="988">
          <p15:clr>
            <a:srgbClr val="E46962"/>
          </p15:clr>
        </p15:guide>
        <p15:guide id="5" pos="1317">
          <p15:clr>
            <a:srgbClr val="E46962"/>
          </p15:clr>
        </p15:guide>
        <p15:guide id="6" pos="1482">
          <p15:clr>
            <a:srgbClr val="E46962"/>
          </p15:clr>
        </p15:guide>
        <p15:guide id="7" pos="1811">
          <p15:clr>
            <a:srgbClr val="E46962"/>
          </p15:clr>
        </p15:guide>
        <p15:guide id="8" pos="1976">
          <p15:clr>
            <a:srgbClr val="E46962"/>
          </p15:clr>
        </p15:guide>
        <p15:guide id="9" pos="2305">
          <p15:clr>
            <a:srgbClr val="E46962"/>
          </p15:clr>
        </p15:guide>
        <p15:guide id="10" pos="2470">
          <p15:clr>
            <a:srgbClr val="E46962"/>
          </p15:clr>
        </p15:guide>
        <p15:guide id="11" pos="2799">
          <p15:clr>
            <a:srgbClr val="E46962"/>
          </p15:clr>
        </p15:guide>
        <p15:guide id="12" pos="5431">
          <p15:clr>
            <a:srgbClr val="E46962"/>
          </p15:clr>
        </p15:guide>
        <p15:guide id="13" pos="5266">
          <p15:clr>
            <a:srgbClr val="E46962"/>
          </p15:clr>
        </p15:guide>
        <p15:guide id="14" pos="4937">
          <p15:clr>
            <a:srgbClr val="E46962"/>
          </p15:clr>
        </p15:guide>
        <p15:guide id="15" pos="4772">
          <p15:clr>
            <a:srgbClr val="E46962"/>
          </p15:clr>
        </p15:guide>
        <p15:guide id="16" pos="4443">
          <p15:clr>
            <a:srgbClr val="E46962"/>
          </p15:clr>
        </p15:guide>
        <p15:guide id="17" pos="4278">
          <p15:clr>
            <a:srgbClr val="E46962"/>
          </p15:clr>
        </p15:guide>
        <p15:guide id="18" pos="3949">
          <p15:clr>
            <a:srgbClr val="E46962"/>
          </p15:clr>
        </p15:guide>
        <p15:guide id="19" pos="3784">
          <p15:clr>
            <a:srgbClr val="E46962"/>
          </p15:clr>
        </p15:guide>
        <p15:guide id="20" pos="3455">
          <p15:clr>
            <a:srgbClr val="E46962"/>
          </p15:clr>
        </p15:guide>
        <p15:guide id="21" pos="3290">
          <p15:clr>
            <a:srgbClr val="E46962"/>
          </p15:clr>
        </p15:guide>
        <p15:guide id="22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tories.starbucks.com/uploads/2023/05/2022-Starbucks-Global-Environmental-Social-Impact-Report.pdf" TargetMode="External"/><Relationship Id="rId4" Type="http://schemas.openxmlformats.org/officeDocument/2006/relationships/hyperlink" Target="https://stories.starbucks.com/uploads/2024/02/2023-Starbucks-Global-Impact-Report-Partner-Data-Tables.pdf" TargetMode="External"/><Relationship Id="rId9" Type="http://schemas.openxmlformats.org/officeDocument/2006/relationships/hyperlink" Target="https://www.bcg.com/publications/2024/childcare-benefits-pay-for-themselves-at-us-companies" TargetMode="External"/><Relationship Id="rId5" Type="http://schemas.openxmlformats.org/officeDocument/2006/relationships/hyperlink" Target="https://pos.toasttab.com/blog/on-the-line/restaurant-turnover-rate" TargetMode="External"/><Relationship Id="rId6" Type="http://schemas.openxmlformats.org/officeDocument/2006/relationships/hyperlink" Target="https://www.brickergraydon.com/benefits-insights/90-day-waiting-period-prohibition-applies-employers-regardless-size?utm_source=chatgpt.com" TargetMode="External"/><Relationship Id="rId7" Type="http://schemas.openxmlformats.org/officeDocument/2006/relationships/hyperlink" Target="https://www.trinet.com/insights/how-much-is-average-pto-in-the-us" TargetMode="External"/><Relationship Id="rId8" Type="http://schemas.openxmlformats.org/officeDocument/2006/relationships/hyperlink" Target="https://www.kff.org/report-section/ehbs-2023-section-1-cost-of-health-insurance/?utm_source=chatgpt.com" TargetMode="External"/><Relationship Id="rId11" Type="http://schemas.openxmlformats.org/officeDocument/2006/relationships/hyperlink" Target="https://www.indeed.com/cmp/Applebee" TargetMode="External"/><Relationship Id="rId10" Type="http://schemas.openxmlformats.org/officeDocument/2006/relationships/hyperlink" Target="https://www.visualcapitalist.com/mapped-infant-child-care-costs-by-u-s-state/?utm_source=chatgpt.com" TargetMode="External"/><Relationship Id="rId13" Type="http://schemas.openxmlformats.org/officeDocument/2006/relationships/hyperlink" Target="https://www.indeed.com/cmp/Olive-Garden/salaries/Service-Manager" TargetMode="External"/><Relationship Id="rId12" Type="http://schemas.openxmlformats.org/officeDocument/2006/relationships/hyperlink" Target="https://www.indeed.com/cmp/Red-Lobster/salaries/Chef" TargetMode="External"/><Relationship Id="rId15" Type="http://schemas.openxmlformats.org/officeDocument/2006/relationships/hyperlink" Target="https://www.cnbc.com/2019/08/29/fast-food-restaurants-in-america-are-losing-100percent-of-workers-every-year.html" TargetMode="External"/><Relationship Id="rId14" Type="http://schemas.openxmlformats.org/officeDocument/2006/relationships/hyperlink" Target="https://www.indeed.com/cmp/Ihop/salaries/General-Manager" TargetMode="External"/><Relationship Id="rId17" Type="http://schemas.openxmlformats.org/officeDocument/2006/relationships/hyperlink" Target="https://www.7shifts.com/" TargetMode="External"/><Relationship Id="rId16" Type="http://schemas.openxmlformats.org/officeDocument/2006/relationships/hyperlink" Target="https://hwtc.ca/a_living_wage/#:~:text=When%20workers%20are%20paid%20a%20living%20wage%2C%20they%20are%20more,are%20satisfied%20with%20their%20experience" TargetMode="External"/><Relationship Id="rId19" Type="http://schemas.openxmlformats.org/officeDocument/2006/relationships/image" Target="../media/image6.png"/><Relationship Id="rId18" Type="http://schemas.openxmlformats.org/officeDocument/2006/relationships/hyperlink" Target="https://unsplash.com/photos/table-of-round-food-containers-lfgsLxX17Q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303A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25"/>
            <a:ext cx="9144003" cy="6153976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00"/>
          <p:cNvSpPr/>
          <p:nvPr/>
        </p:nvSpPr>
        <p:spPr>
          <a:xfrm>
            <a:off x="-75" y="-59425"/>
            <a:ext cx="9144000" cy="6153900"/>
          </a:xfrm>
          <a:prstGeom prst="rect">
            <a:avLst/>
          </a:prstGeom>
          <a:solidFill>
            <a:srgbClr val="191919">
              <a:alpha val="478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00"/>
          <p:cNvSpPr/>
          <p:nvPr/>
        </p:nvSpPr>
        <p:spPr>
          <a:xfrm rot="5400000">
            <a:off x="1428875" y="13850"/>
            <a:ext cx="3358800" cy="5026500"/>
          </a:xfrm>
          <a:prstGeom prst="rect">
            <a:avLst/>
          </a:prstGeom>
          <a:solidFill>
            <a:srgbClr val="73937E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00"/>
          <p:cNvSpPr txBox="1"/>
          <p:nvPr/>
        </p:nvSpPr>
        <p:spPr>
          <a:xfrm>
            <a:off x="1039575" y="3206400"/>
            <a:ext cx="28878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UTEK Consulting 2025 - Team 09</a:t>
            </a:r>
            <a:endParaRPr sz="1200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09" name="Google Shape;609;p100"/>
          <p:cNvSpPr txBox="1"/>
          <p:nvPr/>
        </p:nvSpPr>
        <p:spPr>
          <a:xfrm>
            <a:off x="1039575" y="1701225"/>
            <a:ext cx="45924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Yanana Kitchens Co.</a:t>
            </a:r>
            <a:endParaRPr b="1" sz="4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0" name="Google Shape;610;p100"/>
          <p:cNvSpPr/>
          <p:nvPr/>
        </p:nvSpPr>
        <p:spPr>
          <a:xfrm flipH="1" rot="-5400000">
            <a:off x="7217050" y="3270075"/>
            <a:ext cx="3358800" cy="221100"/>
          </a:xfrm>
          <a:prstGeom prst="rect">
            <a:avLst/>
          </a:prstGeom>
          <a:solidFill>
            <a:srgbClr val="73937E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6300" y="-59425"/>
            <a:ext cx="847700" cy="8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00"/>
          <p:cNvSpPr txBox="1"/>
          <p:nvPr/>
        </p:nvSpPr>
        <p:spPr>
          <a:xfrm>
            <a:off x="6471100" y="4706625"/>
            <a:ext cx="2535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Image from Unsplash</a:t>
            </a:r>
            <a:r>
              <a:rPr baseline="-25000" lang="en" sz="11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[17]</a:t>
            </a:r>
            <a:endParaRPr baseline="-25000" sz="11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01"/>
          <p:cNvSpPr/>
          <p:nvPr/>
        </p:nvSpPr>
        <p:spPr>
          <a:xfrm>
            <a:off x="5543475" y="2571750"/>
            <a:ext cx="3612000" cy="996900"/>
          </a:xfrm>
          <a:prstGeom prst="rect">
            <a:avLst/>
          </a:prstGeom>
          <a:solidFill>
            <a:srgbClr val="B973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7A290"/>
              </a:solidFill>
            </a:endParaRPr>
          </a:p>
        </p:txBody>
      </p:sp>
      <p:sp>
        <p:nvSpPr>
          <p:cNvPr id="618" name="Google Shape;618;p101"/>
          <p:cNvSpPr/>
          <p:nvPr/>
        </p:nvSpPr>
        <p:spPr>
          <a:xfrm>
            <a:off x="772606" y="1084893"/>
            <a:ext cx="4087428" cy="2519215"/>
          </a:xfrm>
          <a:custGeom>
            <a:rect b="b" l="l" r="r" t="t"/>
            <a:pathLst>
              <a:path extrusionOk="0" h="1674" w="2717">
                <a:moveTo>
                  <a:pt x="2688" y="208"/>
                </a:moveTo>
                <a:cubicBezTo>
                  <a:pt x="2679" y="206"/>
                  <a:pt x="2676" y="214"/>
                  <a:pt x="2670" y="208"/>
                </a:cubicBezTo>
                <a:cubicBezTo>
                  <a:pt x="2672" y="197"/>
                  <a:pt x="2665" y="196"/>
                  <a:pt x="2667" y="186"/>
                </a:cubicBezTo>
                <a:cubicBezTo>
                  <a:pt x="2659" y="186"/>
                  <a:pt x="2649" y="188"/>
                  <a:pt x="2645" y="183"/>
                </a:cubicBezTo>
                <a:cubicBezTo>
                  <a:pt x="2640" y="151"/>
                  <a:pt x="2627" y="126"/>
                  <a:pt x="2621" y="95"/>
                </a:cubicBezTo>
                <a:cubicBezTo>
                  <a:pt x="2609" y="95"/>
                  <a:pt x="2603" y="88"/>
                  <a:pt x="2594" y="86"/>
                </a:cubicBezTo>
                <a:cubicBezTo>
                  <a:pt x="2586" y="92"/>
                  <a:pt x="2580" y="101"/>
                  <a:pt x="2569" y="104"/>
                </a:cubicBezTo>
                <a:cubicBezTo>
                  <a:pt x="2560" y="103"/>
                  <a:pt x="2565" y="89"/>
                  <a:pt x="2554" y="92"/>
                </a:cubicBezTo>
                <a:cubicBezTo>
                  <a:pt x="2542" y="121"/>
                  <a:pt x="2520" y="168"/>
                  <a:pt x="2535" y="205"/>
                </a:cubicBezTo>
                <a:cubicBezTo>
                  <a:pt x="2528" y="217"/>
                  <a:pt x="2519" y="229"/>
                  <a:pt x="2520" y="251"/>
                </a:cubicBezTo>
                <a:cubicBezTo>
                  <a:pt x="2509" y="248"/>
                  <a:pt x="2505" y="257"/>
                  <a:pt x="2499" y="251"/>
                </a:cubicBezTo>
                <a:cubicBezTo>
                  <a:pt x="2496" y="260"/>
                  <a:pt x="2497" y="273"/>
                  <a:pt x="2487" y="275"/>
                </a:cubicBezTo>
                <a:cubicBezTo>
                  <a:pt x="2455" y="281"/>
                  <a:pt x="2420" y="295"/>
                  <a:pt x="2386" y="302"/>
                </a:cubicBezTo>
                <a:cubicBezTo>
                  <a:pt x="2370" y="306"/>
                  <a:pt x="2353" y="303"/>
                  <a:pt x="2340" y="312"/>
                </a:cubicBezTo>
                <a:cubicBezTo>
                  <a:pt x="2325" y="321"/>
                  <a:pt x="2320" y="343"/>
                  <a:pt x="2309" y="357"/>
                </a:cubicBezTo>
                <a:cubicBezTo>
                  <a:pt x="2302" y="368"/>
                  <a:pt x="2287" y="369"/>
                  <a:pt x="2291" y="385"/>
                </a:cubicBezTo>
                <a:cubicBezTo>
                  <a:pt x="2305" y="390"/>
                  <a:pt x="2303" y="406"/>
                  <a:pt x="2303" y="415"/>
                </a:cubicBezTo>
                <a:cubicBezTo>
                  <a:pt x="2274" y="457"/>
                  <a:pt x="2221" y="437"/>
                  <a:pt x="2175" y="458"/>
                </a:cubicBezTo>
                <a:cubicBezTo>
                  <a:pt x="2176" y="473"/>
                  <a:pt x="2185" y="479"/>
                  <a:pt x="2190" y="489"/>
                </a:cubicBezTo>
                <a:cubicBezTo>
                  <a:pt x="2151" y="542"/>
                  <a:pt x="2094" y="578"/>
                  <a:pt x="2031" y="608"/>
                </a:cubicBezTo>
                <a:cubicBezTo>
                  <a:pt x="2022" y="595"/>
                  <a:pt x="1991" y="604"/>
                  <a:pt x="1986" y="587"/>
                </a:cubicBezTo>
                <a:cubicBezTo>
                  <a:pt x="2001" y="571"/>
                  <a:pt x="1998" y="530"/>
                  <a:pt x="2022" y="532"/>
                </a:cubicBezTo>
                <a:cubicBezTo>
                  <a:pt x="2019" y="492"/>
                  <a:pt x="2014" y="454"/>
                  <a:pt x="1989" y="437"/>
                </a:cubicBezTo>
                <a:cubicBezTo>
                  <a:pt x="1969" y="439"/>
                  <a:pt x="1971" y="464"/>
                  <a:pt x="1955" y="470"/>
                </a:cubicBezTo>
                <a:cubicBezTo>
                  <a:pt x="1943" y="472"/>
                  <a:pt x="1946" y="459"/>
                  <a:pt x="1946" y="449"/>
                </a:cubicBezTo>
                <a:cubicBezTo>
                  <a:pt x="1981" y="440"/>
                  <a:pt x="1957" y="386"/>
                  <a:pt x="1964" y="370"/>
                </a:cubicBezTo>
                <a:cubicBezTo>
                  <a:pt x="1956" y="371"/>
                  <a:pt x="1956" y="363"/>
                  <a:pt x="1955" y="357"/>
                </a:cubicBezTo>
                <a:cubicBezTo>
                  <a:pt x="1922" y="357"/>
                  <a:pt x="1894" y="321"/>
                  <a:pt x="1876" y="354"/>
                </a:cubicBezTo>
                <a:cubicBezTo>
                  <a:pt x="1873" y="364"/>
                  <a:pt x="1886" y="359"/>
                  <a:pt x="1885" y="367"/>
                </a:cubicBezTo>
                <a:cubicBezTo>
                  <a:pt x="1874" y="364"/>
                  <a:pt x="1872" y="370"/>
                  <a:pt x="1866" y="373"/>
                </a:cubicBezTo>
                <a:cubicBezTo>
                  <a:pt x="1864" y="391"/>
                  <a:pt x="1875" y="404"/>
                  <a:pt x="1857" y="406"/>
                </a:cubicBezTo>
                <a:cubicBezTo>
                  <a:pt x="1853" y="392"/>
                  <a:pt x="1870" y="380"/>
                  <a:pt x="1857" y="376"/>
                </a:cubicBezTo>
                <a:cubicBezTo>
                  <a:pt x="1829" y="406"/>
                  <a:pt x="1828" y="439"/>
                  <a:pt x="1824" y="492"/>
                </a:cubicBezTo>
                <a:cubicBezTo>
                  <a:pt x="1858" y="525"/>
                  <a:pt x="1848" y="607"/>
                  <a:pt x="1802" y="620"/>
                </a:cubicBezTo>
                <a:cubicBezTo>
                  <a:pt x="1738" y="563"/>
                  <a:pt x="1774" y="444"/>
                  <a:pt x="1790" y="379"/>
                </a:cubicBezTo>
                <a:cubicBezTo>
                  <a:pt x="1778" y="394"/>
                  <a:pt x="1765" y="425"/>
                  <a:pt x="1750" y="428"/>
                </a:cubicBezTo>
                <a:cubicBezTo>
                  <a:pt x="1761" y="398"/>
                  <a:pt x="1779" y="377"/>
                  <a:pt x="1787" y="345"/>
                </a:cubicBezTo>
                <a:cubicBezTo>
                  <a:pt x="1813" y="352"/>
                  <a:pt x="1828" y="332"/>
                  <a:pt x="1860" y="324"/>
                </a:cubicBezTo>
                <a:cubicBezTo>
                  <a:pt x="1887" y="328"/>
                  <a:pt x="1911" y="324"/>
                  <a:pt x="1931" y="321"/>
                </a:cubicBezTo>
                <a:cubicBezTo>
                  <a:pt x="1917" y="318"/>
                  <a:pt x="1913" y="306"/>
                  <a:pt x="1915" y="287"/>
                </a:cubicBezTo>
                <a:cubicBezTo>
                  <a:pt x="1899" y="288"/>
                  <a:pt x="1887" y="300"/>
                  <a:pt x="1873" y="293"/>
                </a:cubicBezTo>
                <a:cubicBezTo>
                  <a:pt x="1873" y="287"/>
                  <a:pt x="1873" y="281"/>
                  <a:pt x="1873" y="275"/>
                </a:cubicBezTo>
                <a:cubicBezTo>
                  <a:pt x="1828" y="280"/>
                  <a:pt x="1805" y="309"/>
                  <a:pt x="1766" y="302"/>
                </a:cubicBezTo>
                <a:cubicBezTo>
                  <a:pt x="1760" y="278"/>
                  <a:pt x="1725" y="273"/>
                  <a:pt x="1717" y="284"/>
                </a:cubicBezTo>
                <a:cubicBezTo>
                  <a:pt x="1721" y="264"/>
                  <a:pt x="1737" y="256"/>
                  <a:pt x="1747" y="241"/>
                </a:cubicBezTo>
                <a:cubicBezTo>
                  <a:pt x="1717" y="242"/>
                  <a:pt x="1706" y="262"/>
                  <a:pt x="1692" y="278"/>
                </a:cubicBezTo>
                <a:cubicBezTo>
                  <a:pt x="1671" y="290"/>
                  <a:pt x="1647" y="298"/>
                  <a:pt x="1628" y="312"/>
                </a:cubicBezTo>
                <a:cubicBezTo>
                  <a:pt x="1625" y="300"/>
                  <a:pt x="1610" y="312"/>
                  <a:pt x="1607" y="305"/>
                </a:cubicBezTo>
                <a:cubicBezTo>
                  <a:pt x="1609" y="299"/>
                  <a:pt x="1616" y="296"/>
                  <a:pt x="1616" y="287"/>
                </a:cubicBezTo>
                <a:cubicBezTo>
                  <a:pt x="1600" y="281"/>
                  <a:pt x="1580" y="312"/>
                  <a:pt x="1558" y="299"/>
                </a:cubicBezTo>
                <a:cubicBezTo>
                  <a:pt x="1580" y="287"/>
                  <a:pt x="1589" y="259"/>
                  <a:pt x="1610" y="244"/>
                </a:cubicBezTo>
                <a:cubicBezTo>
                  <a:pt x="1627" y="232"/>
                  <a:pt x="1652" y="234"/>
                  <a:pt x="1665" y="214"/>
                </a:cubicBezTo>
                <a:cubicBezTo>
                  <a:pt x="1647" y="210"/>
                  <a:pt x="1618" y="213"/>
                  <a:pt x="1607" y="202"/>
                </a:cubicBezTo>
                <a:cubicBezTo>
                  <a:pt x="1591" y="218"/>
                  <a:pt x="1559" y="216"/>
                  <a:pt x="1555" y="196"/>
                </a:cubicBezTo>
                <a:cubicBezTo>
                  <a:pt x="1529" y="204"/>
                  <a:pt x="1506" y="166"/>
                  <a:pt x="1482" y="189"/>
                </a:cubicBezTo>
                <a:cubicBezTo>
                  <a:pt x="1469" y="185"/>
                  <a:pt x="1459" y="177"/>
                  <a:pt x="1442" y="177"/>
                </a:cubicBezTo>
                <a:cubicBezTo>
                  <a:pt x="1428" y="168"/>
                  <a:pt x="1441" y="133"/>
                  <a:pt x="1417" y="134"/>
                </a:cubicBezTo>
                <a:cubicBezTo>
                  <a:pt x="1410" y="138"/>
                  <a:pt x="1419" y="156"/>
                  <a:pt x="1411" y="159"/>
                </a:cubicBezTo>
                <a:cubicBezTo>
                  <a:pt x="959" y="167"/>
                  <a:pt x="577" y="89"/>
                  <a:pt x="232" y="0"/>
                </a:cubicBezTo>
                <a:cubicBezTo>
                  <a:pt x="246" y="22"/>
                  <a:pt x="233" y="49"/>
                  <a:pt x="238" y="67"/>
                </a:cubicBezTo>
                <a:cubicBezTo>
                  <a:pt x="224" y="56"/>
                  <a:pt x="231" y="46"/>
                  <a:pt x="232" y="37"/>
                </a:cubicBezTo>
                <a:cubicBezTo>
                  <a:pt x="220" y="35"/>
                  <a:pt x="225" y="50"/>
                  <a:pt x="214" y="49"/>
                </a:cubicBezTo>
                <a:cubicBezTo>
                  <a:pt x="182" y="44"/>
                  <a:pt x="165" y="24"/>
                  <a:pt x="140" y="12"/>
                </a:cubicBezTo>
                <a:cubicBezTo>
                  <a:pt x="138" y="41"/>
                  <a:pt x="136" y="88"/>
                  <a:pt x="150" y="110"/>
                </a:cubicBezTo>
                <a:cubicBezTo>
                  <a:pt x="144" y="110"/>
                  <a:pt x="140" y="111"/>
                  <a:pt x="137" y="113"/>
                </a:cubicBezTo>
                <a:cubicBezTo>
                  <a:pt x="134" y="124"/>
                  <a:pt x="145" y="122"/>
                  <a:pt x="143" y="131"/>
                </a:cubicBezTo>
                <a:cubicBezTo>
                  <a:pt x="131" y="139"/>
                  <a:pt x="126" y="155"/>
                  <a:pt x="140" y="162"/>
                </a:cubicBezTo>
                <a:cubicBezTo>
                  <a:pt x="131" y="159"/>
                  <a:pt x="134" y="170"/>
                  <a:pt x="128" y="171"/>
                </a:cubicBezTo>
                <a:cubicBezTo>
                  <a:pt x="107" y="240"/>
                  <a:pt x="82" y="306"/>
                  <a:pt x="43" y="357"/>
                </a:cubicBezTo>
                <a:cubicBezTo>
                  <a:pt x="43" y="376"/>
                  <a:pt x="39" y="389"/>
                  <a:pt x="37" y="403"/>
                </a:cubicBezTo>
                <a:cubicBezTo>
                  <a:pt x="55" y="451"/>
                  <a:pt x="14" y="488"/>
                  <a:pt x="0" y="522"/>
                </a:cubicBezTo>
                <a:cubicBezTo>
                  <a:pt x="34" y="544"/>
                  <a:pt x="2" y="585"/>
                  <a:pt x="6" y="614"/>
                </a:cubicBezTo>
                <a:cubicBezTo>
                  <a:pt x="8" y="627"/>
                  <a:pt x="29" y="646"/>
                  <a:pt x="30" y="666"/>
                </a:cubicBezTo>
                <a:cubicBezTo>
                  <a:pt x="31" y="685"/>
                  <a:pt x="33" y="691"/>
                  <a:pt x="46" y="703"/>
                </a:cubicBezTo>
                <a:cubicBezTo>
                  <a:pt x="30" y="729"/>
                  <a:pt x="45" y="763"/>
                  <a:pt x="64" y="773"/>
                </a:cubicBezTo>
                <a:cubicBezTo>
                  <a:pt x="62" y="783"/>
                  <a:pt x="50" y="783"/>
                  <a:pt x="49" y="794"/>
                </a:cubicBezTo>
                <a:cubicBezTo>
                  <a:pt x="50" y="834"/>
                  <a:pt x="89" y="866"/>
                  <a:pt x="92" y="901"/>
                </a:cubicBezTo>
                <a:cubicBezTo>
                  <a:pt x="93" y="917"/>
                  <a:pt x="77" y="929"/>
                  <a:pt x="88" y="944"/>
                </a:cubicBezTo>
                <a:cubicBezTo>
                  <a:pt x="142" y="942"/>
                  <a:pt x="148" y="989"/>
                  <a:pt x="186" y="1002"/>
                </a:cubicBezTo>
                <a:cubicBezTo>
                  <a:pt x="188" y="1012"/>
                  <a:pt x="180" y="1011"/>
                  <a:pt x="186" y="1017"/>
                </a:cubicBezTo>
                <a:cubicBezTo>
                  <a:pt x="222" y="1026"/>
                  <a:pt x="234" y="1057"/>
                  <a:pt x="232" y="1103"/>
                </a:cubicBezTo>
                <a:cubicBezTo>
                  <a:pt x="269" y="1116"/>
                  <a:pt x="321" y="1116"/>
                  <a:pt x="363" y="1124"/>
                </a:cubicBezTo>
                <a:cubicBezTo>
                  <a:pt x="363" y="1130"/>
                  <a:pt x="355" y="1128"/>
                  <a:pt x="357" y="1136"/>
                </a:cubicBezTo>
                <a:cubicBezTo>
                  <a:pt x="405" y="1160"/>
                  <a:pt x="451" y="1193"/>
                  <a:pt x="495" y="1219"/>
                </a:cubicBezTo>
                <a:cubicBezTo>
                  <a:pt x="552" y="1252"/>
                  <a:pt x="619" y="1261"/>
                  <a:pt x="706" y="1271"/>
                </a:cubicBezTo>
                <a:cubicBezTo>
                  <a:pt x="707" y="1260"/>
                  <a:pt x="707" y="1248"/>
                  <a:pt x="712" y="1240"/>
                </a:cubicBezTo>
                <a:cubicBezTo>
                  <a:pt x="741" y="1245"/>
                  <a:pt x="771" y="1251"/>
                  <a:pt x="803" y="1253"/>
                </a:cubicBezTo>
                <a:cubicBezTo>
                  <a:pt x="824" y="1279"/>
                  <a:pt x="841" y="1311"/>
                  <a:pt x="874" y="1326"/>
                </a:cubicBezTo>
                <a:cubicBezTo>
                  <a:pt x="891" y="1344"/>
                  <a:pt x="885" y="1364"/>
                  <a:pt x="892" y="1390"/>
                </a:cubicBezTo>
                <a:cubicBezTo>
                  <a:pt x="901" y="1424"/>
                  <a:pt x="944" y="1432"/>
                  <a:pt x="971" y="1451"/>
                </a:cubicBezTo>
                <a:cubicBezTo>
                  <a:pt x="993" y="1437"/>
                  <a:pt x="990" y="1399"/>
                  <a:pt x="1023" y="1396"/>
                </a:cubicBezTo>
                <a:cubicBezTo>
                  <a:pt x="1088" y="1404"/>
                  <a:pt x="1120" y="1444"/>
                  <a:pt x="1130" y="1506"/>
                </a:cubicBezTo>
                <a:cubicBezTo>
                  <a:pt x="1152" y="1518"/>
                  <a:pt x="1158" y="1546"/>
                  <a:pt x="1179" y="1558"/>
                </a:cubicBezTo>
                <a:cubicBezTo>
                  <a:pt x="1166" y="1635"/>
                  <a:pt x="1252" y="1654"/>
                  <a:pt x="1304" y="1665"/>
                </a:cubicBezTo>
                <a:cubicBezTo>
                  <a:pt x="1295" y="1624"/>
                  <a:pt x="1297" y="1584"/>
                  <a:pt x="1301" y="1540"/>
                </a:cubicBezTo>
                <a:cubicBezTo>
                  <a:pt x="1353" y="1505"/>
                  <a:pt x="1416" y="1481"/>
                  <a:pt x="1457" y="1436"/>
                </a:cubicBezTo>
                <a:cubicBezTo>
                  <a:pt x="1501" y="1399"/>
                  <a:pt x="1577" y="1426"/>
                  <a:pt x="1622" y="1427"/>
                </a:cubicBezTo>
                <a:cubicBezTo>
                  <a:pt x="1620" y="1409"/>
                  <a:pt x="1602" y="1426"/>
                  <a:pt x="1598" y="1414"/>
                </a:cubicBezTo>
                <a:cubicBezTo>
                  <a:pt x="1617" y="1397"/>
                  <a:pt x="1632" y="1426"/>
                  <a:pt x="1650" y="1430"/>
                </a:cubicBezTo>
                <a:cubicBezTo>
                  <a:pt x="1650" y="1436"/>
                  <a:pt x="1646" y="1436"/>
                  <a:pt x="1646" y="1442"/>
                </a:cubicBezTo>
                <a:cubicBezTo>
                  <a:pt x="1657" y="1447"/>
                  <a:pt x="1665" y="1454"/>
                  <a:pt x="1680" y="1454"/>
                </a:cubicBezTo>
                <a:cubicBezTo>
                  <a:pt x="1688" y="1448"/>
                  <a:pt x="1692" y="1439"/>
                  <a:pt x="1705" y="1439"/>
                </a:cubicBezTo>
                <a:cubicBezTo>
                  <a:pt x="1715" y="1445"/>
                  <a:pt x="1697" y="1452"/>
                  <a:pt x="1705" y="1454"/>
                </a:cubicBezTo>
                <a:cubicBezTo>
                  <a:pt x="1729" y="1447"/>
                  <a:pt x="1710" y="1431"/>
                  <a:pt x="1729" y="1424"/>
                </a:cubicBezTo>
                <a:cubicBezTo>
                  <a:pt x="1734" y="1438"/>
                  <a:pt x="1775" y="1458"/>
                  <a:pt x="1778" y="1436"/>
                </a:cubicBezTo>
                <a:cubicBezTo>
                  <a:pt x="1769" y="1424"/>
                  <a:pt x="1744" y="1429"/>
                  <a:pt x="1738" y="1414"/>
                </a:cubicBezTo>
                <a:cubicBezTo>
                  <a:pt x="1748" y="1406"/>
                  <a:pt x="1760" y="1404"/>
                  <a:pt x="1753" y="1381"/>
                </a:cubicBezTo>
                <a:cubicBezTo>
                  <a:pt x="1740" y="1380"/>
                  <a:pt x="1746" y="1398"/>
                  <a:pt x="1729" y="1393"/>
                </a:cubicBezTo>
                <a:cubicBezTo>
                  <a:pt x="1743" y="1357"/>
                  <a:pt x="1774" y="1361"/>
                  <a:pt x="1818" y="1359"/>
                </a:cubicBezTo>
                <a:cubicBezTo>
                  <a:pt x="1824" y="1354"/>
                  <a:pt x="1819" y="1338"/>
                  <a:pt x="1830" y="1338"/>
                </a:cubicBezTo>
                <a:cubicBezTo>
                  <a:pt x="1836" y="1343"/>
                  <a:pt x="1845" y="1360"/>
                  <a:pt x="1833" y="1366"/>
                </a:cubicBezTo>
                <a:cubicBezTo>
                  <a:pt x="1883" y="1349"/>
                  <a:pt x="1957" y="1336"/>
                  <a:pt x="1983" y="1384"/>
                </a:cubicBezTo>
                <a:cubicBezTo>
                  <a:pt x="2010" y="1382"/>
                  <a:pt x="2034" y="1370"/>
                  <a:pt x="2038" y="1353"/>
                </a:cubicBezTo>
                <a:cubicBezTo>
                  <a:pt x="2090" y="1348"/>
                  <a:pt x="2086" y="1398"/>
                  <a:pt x="2129" y="1402"/>
                </a:cubicBezTo>
                <a:cubicBezTo>
                  <a:pt x="2155" y="1423"/>
                  <a:pt x="2126" y="1480"/>
                  <a:pt x="2151" y="1500"/>
                </a:cubicBezTo>
                <a:cubicBezTo>
                  <a:pt x="2158" y="1491"/>
                  <a:pt x="2148" y="1479"/>
                  <a:pt x="2151" y="1479"/>
                </a:cubicBezTo>
                <a:cubicBezTo>
                  <a:pt x="2155" y="1479"/>
                  <a:pt x="2162" y="1478"/>
                  <a:pt x="2163" y="1482"/>
                </a:cubicBezTo>
                <a:cubicBezTo>
                  <a:pt x="2164" y="1496"/>
                  <a:pt x="2151" y="1497"/>
                  <a:pt x="2151" y="1509"/>
                </a:cubicBezTo>
                <a:cubicBezTo>
                  <a:pt x="2166" y="1527"/>
                  <a:pt x="2179" y="1548"/>
                  <a:pt x="2190" y="1570"/>
                </a:cubicBezTo>
                <a:cubicBezTo>
                  <a:pt x="2199" y="1573"/>
                  <a:pt x="2198" y="1566"/>
                  <a:pt x="2206" y="1567"/>
                </a:cubicBezTo>
                <a:cubicBezTo>
                  <a:pt x="2212" y="1577"/>
                  <a:pt x="2215" y="1590"/>
                  <a:pt x="2221" y="1601"/>
                </a:cubicBezTo>
                <a:cubicBezTo>
                  <a:pt x="2248" y="1595"/>
                  <a:pt x="2259" y="1624"/>
                  <a:pt x="2267" y="1647"/>
                </a:cubicBezTo>
                <a:cubicBezTo>
                  <a:pt x="2278" y="1643"/>
                  <a:pt x="2298" y="1632"/>
                  <a:pt x="2306" y="1634"/>
                </a:cubicBezTo>
                <a:cubicBezTo>
                  <a:pt x="2302" y="1653"/>
                  <a:pt x="2272" y="1661"/>
                  <a:pt x="2273" y="1674"/>
                </a:cubicBezTo>
                <a:cubicBezTo>
                  <a:pt x="2294" y="1659"/>
                  <a:pt x="2314" y="1642"/>
                  <a:pt x="2319" y="1610"/>
                </a:cubicBezTo>
                <a:cubicBezTo>
                  <a:pt x="2308" y="1605"/>
                  <a:pt x="2317" y="1620"/>
                  <a:pt x="2309" y="1619"/>
                </a:cubicBezTo>
                <a:cubicBezTo>
                  <a:pt x="2332" y="1539"/>
                  <a:pt x="2288" y="1484"/>
                  <a:pt x="2261" y="1436"/>
                </a:cubicBezTo>
                <a:cubicBezTo>
                  <a:pt x="2261" y="1430"/>
                  <a:pt x="2269" y="1432"/>
                  <a:pt x="2267" y="1424"/>
                </a:cubicBezTo>
                <a:cubicBezTo>
                  <a:pt x="2220" y="1382"/>
                  <a:pt x="2172" y="1299"/>
                  <a:pt x="2199" y="1219"/>
                </a:cubicBezTo>
                <a:cubicBezTo>
                  <a:pt x="2206" y="1200"/>
                  <a:pt x="2227" y="1190"/>
                  <a:pt x="2227" y="1170"/>
                </a:cubicBezTo>
                <a:cubicBezTo>
                  <a:pt x="2256" y="1160"/>
                  <a:pt x="2264" y="1129"/>
                  <a:pt x="2288" y="1115"/>
                </a:cubicBezTo>
                <a:cubicBezTo>
                  <a:pt x="2286" y="1075"/>
                  <a:pt x="2308" y="1058"/>
                  <a:pt x="2343" y="1054"/>
                </a:cubicBezTo>
                <a:cubicBezTo>
                  <a:pt x="2340" y="993"/>
                  <a:pt x="2418" y="1005"/>
                  <a:pt x="2419" y="965"/>
                </a:cubicBezTo>
                <a:cubicBezTo>
                  <a:pt x="2417" y="971"/>
                  <a:pt x="2393" y="974"/>
                  <a:pt x="2389" y="965"/>
                </a:cubicBezTo>
                <a:cubicBezTo>
                  <a:pt x="2402" y="976"/>
                  <a:pt x="2410" y="949"/>
                  <a:pt x="2398" y="944"/>
                </a:cubicBezTo>
                <a:cubicBezTo>
                  <a:pt x="2418" y="950"/>
                  <a:pt x="2439" y="941"/>
                  <a:pt x="2441" y="920"/>
                </a:cubicBezTo>
                <a:cubicBezTo>
                  <a:pt x="2436" y="911"/>
                  <a:pt x="2422" y="927"/>
                  <a:pt x="2416" y="916"/>
                </a:cubicBezTo>
                <a:cubicBezTo>
                  <a:pt x="2427" y="917"/>
                  <a:pt x="2435" y="914"/>
                  <a:pt x="2438" y="907"/>
                </a:cubicBezTo>
                <a:cubicBezTo>
                  <a:pt x="2436" y="903"/>
                  <a:pt x="2436" y="903"/>
                  <a:pt x="2436" y="903"/>
                </a:cubicBezTo>
                <a:cubicBezTo>
                  <a:pt x="2441" y="904"/>
                  <a:pt x="2441" y="904"/>
                  <a:pt x="2441" y="904"/>
                </a:cubicBezTo>
                <a:cubicBezTo>
                  <a:pt x="2428" y="885"/>
                  <a:pt x="2417" y="862"/>
                  <a:pt x="2407" y="840"/>
                </a:cubicBezTo>
                <a:cubicBezTo>
                  <a:pt x="2400" y="840"/>
                  <a:pt x="2392" y="839"/>
                  <a:pt x="2388" y="842"/>
                </a:cubicBezTo>
                <a:cubicBezTo>
                  <a:pt x="2400" y="832"/>
                  <a:pt x="2374" y="820"/>
                  <a:pt x="2380" y="813"/>
                </a:cubicBezTo>
                <a:cubicBezTo>
                  <a:pt x="2383" y="813"/>
                  <a:pt x="2383" y="815"/>
                  <a:pt x="2386" y="816"/>
                </a:cubicBezTo>
                <a:cubicBezTo>
                  <a:pt x="2384" y="793"/>
                  <a:pt x="2377" y="775"/>
                  <a:pt x="2361" y="767"/>
                </a:cubicBezTo>
                <a:cubicBezTo>
                  <a:pt x="2370" y="769"/>
                  <a:pt x="2367" y="760"/>
                  <a:pt x="2371" y="758"/>
                </a:cubicBezTo>
                <a:cubicBezTo>
                  <a:pt x="2349" y="744"/>
                  <a:pt x="2346" y="687"/>
                  <a:pt x="2367" y="684"/>
                </a:cubicBezTo>
                <a:cubicBezTo>
                  <a:pt x="2354" y="697"/>
                  <a:pt x="2376" y="712"/>
                  <a:pt x="2361" y="727"/>
                </a:cubicBezTo>
                <a:cubicBezTo>
                  <a:pt x="2375" y="727"/>
                  <a:pt x="2366" y="731"/>
                  <a:pt x="2367" y="748"/>
                </a:cubicBezTo>
                <a:cubicBezTo>
                  <a:pt x="2384" y="750"/>
                  <a:pt x="2380" y="770"/>
                  <a:pt x="2392" y="776"/>
                </a:cubicBezTo>
                <a:cubicBezTo>
                  <a:pt x="2396" y="765"/>
                  <a:pt x="2382" y="758"/>
                  <a:pt x="2389" y="755"/>
                </a:cubicBezTo>
                <a:cubicBezTo>
                  <a:pt x="2421" y="766"/>
                  <a:pt x="2383" y="811"/>
                  <a:pt x="2407" y="828"/>
                </a:cubicBezTo>
                <a:cubicBezTo>
                  <a:pt x="2413" y="788"/>
                  <a:pt x="2442" y="751"/>
                  <a:pt x="2426" y="709"/>
                </a:cubicBezTo>
                <a:cubicBezTo>
                  <a:pt x="2404" y="703"/>
                  <a:pt x="2401" y="678"/>
                  <a:pt x="2389" y="663"/>
                </a:cubicBezTo>
                <a:cubicBezTo>
                  <a:pt x="2397" y="675"/>
                  <a:pt x="2409" y="684"/>
                  <a:pt x="2429" y="684"/>
                </a:cubicBezTo>
                <a:cubicBezTo>
                  <a:pt x="2430" y="692"/>
                  <a:pt x="2423" y="691"/>
                  <a:pt x="2426" y="700"/>
                </a:cubicBezTo>
                <a:cubicBezTo>
                  <a:pt x="2448" y="678"/>
                  <a:pt x="2467" y="638"/>
                  <a:pt x="2456" y="593"/>
                </a:cubicBezTo>
                <a:cubicBezTo>
                  <a:pt x="2452" y="585"/>
                  <a:pt x="2445" y="599"/>
                  <a:pt x="2441" y="590"/>
                </a:cubicBezTo>
                <a:cubicBezTo>
                  <a:pt x="2447" y="589"/>
                  <a:pt x="2447" y="581"/>
                  <a:pt x="2453" y="580"/>
                </a:cubicBezTo>
                <a:cubicBezTo>
                  <a:pt x="2451" y="572"/>
                  <a:pt x="2451" y="572"/>
                  <a:pt x="2451" y="572"/>
                </a:cubicBezTo>
                <a:cubicBezTo>
                  <a:pt x="2456" y="565"/>
                  <a:pt x="2456" y="565"/>
                  <a:pt x="2456" y="565"/>
                </a:cubicBezTo>
                <a:cubicBezTo>
                  <a:pt x="2478" y="522"/>
                  <a:pt x="2541" y="519"/>
                  <a:pt x="2578" y="492"/>
                </a:cubicBezTo>
                <a:cubicBezTo>
                  <a:pt x="2582" y="483"/>
                  <a:pt x="2577" y="477"/>
                  <a:pt x="2590" y="474"/>
                </a:cubicBezTo>
                <a:cubicBezTo>
                  <a:pt x="2592" y="483"/>
                  <a:pt x="2590" y="489"/>
                  <a:pt x="2584" y="492"/>
                </a:cubicBezTo>
                <a:cubicBezTo>
                  <a:pt x="2598" y="484"/>
                  <a:pt x="2605" y="470"/>
                  <a:pt x="2624" y="467"/>
                </a:cubicBezTo>
                <a:cubicBezTo>
                  <a:pt x="2624" y="452"/>
                  <a:pt x="2619" y="440"/>
                  <a:pt x="2603" y="440"/>
                </a:cubicBezTo>
                <a:cubicBezTo>
                  <a:pt x="2604" y="450"/>
                  <a:pt x="2618" y="447"/>
                  <a:pt x="2618" y="458"/>
                </a:cubicBezTo>
                <a:cubicBezTo>
                  <a:pt x="2592" y="482"/>
                  <a:pt x="2586" y="430"/>
                  <a:pt x="2566" y="437"/>
                </a:cubicBezTo>
                <a:cubicBezTo>
                  <a:pt x="2568" y="410"/>
                  <a:pt x="2564" y="373"/>
                  <a:pt x="2578" y="333"/>
                </a:cubicBezTo>
                <a:cubicBezTo>
                  <a:pt x="2595" y="336"/>
                  <a:pt x="2607" y="317"/>
                  <a:pt x="2621" y="309"/>
                </a:cubicBezTo>
                <a:cubicBezTo>
                  <a:pt x="2623" y="298"/>
                  <a:pt x="2618" y="280"/>
                  <a:pt x="2621" y="278"/>
                </a:cubicBezTo>
                <a:cubicBezTo>
                  <a:pt x="2625" y="283"/>
                  <a:pt x="2634" y="282"/>
                  <a:pt x="2633" y="290"/>
                </a:cubicBezTo>
                <a:cubicBezTo>
                  <a:pt x="2626" y="295"/>
                  <a:pt x="2622" y="295"/>
                  <a:pt x="2627" y="305"/>
                </a:cubicBezTo>
                <a:cubicBezTo>
                  <a:pt x="2643" y="302"/>
                  <a:pt x="2635" y="281"/>
                  <a:pt x="2645" y="272"/>
                </a:cubicBezTo>
                <a:cubicBezTo>
                  <a:pt x="2645" y="280"/>
                  <a:pt x="2644" y="287"/>
                  <a:pt x="2655" y="284"/>
                </a:cubicBezTo>
                <a:cubicBezTo>
                  <a:pt x="2660" y="266"/>
                  <a:pt x="2651" y="276"/>
                  <a:pt x="2649" y="266"/>
                </a:cubicBezTo>
                <a:cubicBezTo>
                  <a:pt x="2672" y="277"/>
                  <a:pt x="2717" y="231"/>
                  <a:pt x="2688" y="208"/>
                </a:cubicBezTo>
                <a:close/>
              </a:path>
            </a:pathLst>
          </a:custGeom>
          <a:solidFill>
            <a:srgbClr val="5C676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01"/>
          <p:cNvSpPr txBox="1"/>
          <p:nvPr/>
        </p:nvSpPr>
        <p:spPr>
          <a:xfrm>
            <a:off x="176850" y="93000"/>
            <a:ext cx="78705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Yanana Kitchens Co. is looking to expand beyond their existing </a:t>
            </a:r>
            <a:r>
              <a:rPr b="1" lang="en" sz="2200">
                <a:solidFill>
                  <a:srgbClr val="B97375"/>
                </a:solidFill>
                <a:latin typeface="Lexend"/>
                <a:ea typeface="Lexend"/>
                <a:cs typeface="Lexend"/>
                <a:sym typeface="Lexend"/>
              </a:rPr>
              <a:t>82</a:t>
            </a: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 locations</a:t>
            </a:r>
            <a:r>
              <a:rPr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[1]</a:t>
            </a: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20" name="Google Shape;620;p101"/>
          <p:cNvGrpSpPr/>
          <p:nvPr/>
        </p:nvGrpSpPr>
        <p:grpSpPr>
          <a:xfrm>
            <a:off x="712327" y="2289299"/>
            <a:ext cx="564916" cy="564916"/>
            <a:chOff x="4255116" y="1937462"/>
            <a:chExt cx="684000" cy="684000"/>
          </a:xfrm>
        </p:grpSpPr>
        <p:sp>
          <p:nvSpPr>
            <p:cNvPr id="621" name="Google Shape;621;p101"/>
            <p:cNvSpPr/>
            <p:nvPr/>
          </p:nvSpPr>
          <p:spPr>
            <a:xfrm>
              <a:off x="4255116" y="1937462"/>
              <a:ext cx="684000" cy="684000"/>
            </a:xfrm>
            <a:prstGeom prst="ellipse">
              <a:avLst/>
            </a:prstGeom>
            <a:solidFill>
              <a:srgbClr val="73937E">
                <a:alpha val="8588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01"/>
            <p:cNvSpPr txBox="1"/>
            <p:nvPr/>
          </p:nvSpPr>
          <p:spPr>
            <a:xfrm>
              <a:off x="4379744" y="2149044"/>
              <a:ext cx="434700" cy="2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b="1" lang="en">
                  <a:solidFill>
                    <a:srgbClr val="FFFFFF"/>
                  </a:solidFill>
                </a:rPr>
                <a:t>15%</a:t>
              </a:r>
              <a:endParaRPr/>
            </a:p>
          </p:txBody>
        </p:sp>
      </p:grpSp>
      <p:sp>
        <p:nvSpPr>
          <p:cNvPr id="623" name="Google Shape;623;p101"/>
          <p:cNvSpPr txBox="1"/>
          <p:nvPr/>
        </p:nvSpPr>
        <p:spPr>
          <a:xfrm>
            <a:off x="5665543" y="3152017"/>
            <a:ext cx="38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Employees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4" name="Google Shape;624;p101"/>
          <p:cNvSpPr txBox="1"/>
          <p:nvPr/>
        </p:nvSpPr>
        <p:spPr>
          <a:xfrm>
            <a:off x="224025" y="4315975"/>
            <a:ext cx="8764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This is ill-advised as </a:t>
            </a:r>
            <a:r>
              <a:rPr b="1" lang="en" sz="19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Yanana Kitchens Co. </a:t>
            </a:r>
            <a:r>
              <a:rPr b="1" lang="en" sz="19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currently has a </a:t>
            </a:r>
            <a:r>
              <a:rPr b="1" lang="en" sz="1900">
                <a:solidFill>
                  <a:srgbClr val="B97375"/>
                </a:solidFill>
                <a:latin typeface="Lexend"/>
                <a:ea typeface="Lexend"/>
                <a:cs typeface="Lexend"/>
                <a:sym typeface="Lexend"/>
              </a:rPr>
              <a:t>120%</a:t>
            </a:r>
            <a:r>
              <a:rPr b="1" lang="en" sz="19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 turnover rate in the past year</a:t>
            </a:r>
            <a:r>
              <a:rPr b="1"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[1]</a:t>
            </a:r>
            <a:r>
              <a:rPr b="1" lang="en" sz="19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 sz="19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25" name="Google Shape;625;p101"/>
          <p:cNvGrpSpPr/>
          <p:nvPr/>
        </p:nvGrpSpPr>
        <p:grpSpPr>
          <a:xfrm>
            <a:off x="3829624" y="2167793"/>
            <a:ext cx="564922" cy="564922"/>
            <a:chOff x="6607949" y="3519185"/>
            <a:chExt cx="525900" cy="525900"/>
          </a:xfrm>
        </p:grpSpPr>
        <p:sp>
          <p:nvSpPr>
            <p:cNvPr id="626" name="Google Shape;626;p101"/>
            <p:cNvSpPr/>
            <p:nvPr/>
          </p:nvSpPr>
          <p:spPr>
            <a:xfrm>
              <a:off x="6607949" y="3519185"/>
              <a:ext cx="525900" cy="525900"/>
            </a:xfrm>
            <a:prstGeom prst="ellipse">
              <a:avLst/>
            </a:prstGeom>
            <a:solidFill>
              <a:srgbClr val="73937E">
                <a:alpha val="8588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01"/>
            <p:cNvSpPr txBox="1"/>
            <p:nvPr/>
          </p:nvSpPr>
          <p:spPr>
            <a:xfrm>
              <a:off x="6700164" y="3679721"/>
              <a:ext cx="341700" cy="1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lang="en" sz="1100">
                  <a:solidFill>
                    <a:srgbClr val="FFFFFF"/>
                  </a:solidFill>
                </a:rPr>
                <a:t>9%</a:t>
              </a:r>
              <a:endParaRPr/>
            </a:p>
          </p:txBody>
        </p:sp>
      </p:grpSp>
      <p:grpSp>
        <p:nvGrpSpPr>
          <p:cNvPr id="628" name="Google Shape;628;p101"/>
          <p:cNvGrpSpPr/>
          <p:nvPr/>
        </p:nvGrpSpPr>
        <p:grpSpPr>
          <a:xfrm>
            <a:off x="3117869" y="1882151"/>
            <a:ext cx="434341" cy="434341"/>
            <a:chOff x="6607949" y="3519185"/>
            <a:chExt cx="525900" cy="525900"/>
          </a:xfrm>
        </p:grpSpPr>
        <p:sp>
          <p:nvSpPr>
            <p:cNvPr id="629" name="Google Shape;629;p101"/>
            <p:cNvSpPr/>
            <p:nvPr/>
          </p:nvSpPr>
          <p:spPr>
            <a:xfrm>
              <a:off x="6607949" y="3519185"/>
              <a:ext cx="525900" cy="525900"/>
            </a:xfrm>
            <a:prstGeom prst="ellipse">
              <a:avLst/>
            </a:prstGeom>
            <a:solidFill>
              <a:srgbClr val="7798E2">
                <a:alpha val="5786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01"/>
            <p:cNvSpPr txBox="1"/>
            <p:nvPr/>
          </p:nvSpPr>
          <p:spPr>
            <a:xfrm>
              <a:off x="6700164" y="3679721"/>
              <a:ext cx="3417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lang="en" sz="1100">
                  <a:solidFill>
                    <a:srgbClr val="FFFFFF"/>
                  </a:solidFill>
                </a:rPr>
                <a:t>6%</a:t>
              </a:r>
              <a:endParaRPr/>
            </a:p>
          </p:txBody>
        </p:sp>
      </p:grpSp>
      <p:grpSp>
        <p:nvGrpSpPr>
          <p:cNvPr id="631" name="Google Shape;631;p101"/>
          <p:cNvGrpSpPr/>
          <p:nvPr/>
        </p:nvGrpSpPr>
        <p:grpSpPr>
          <a:xfrm>
            <a:off x="1841552" y="2273570"/>
            <a:ext cx="318327" cy="353405"/>
            <a:chOff x="6607949" y="3519185"/>
            <a:chExt cx="525900" cy="525900"/>
          </a:xfrm>
        </p:grpSpPr>
        <p:sp>
          <p:nvSpPr>
            <p:cNvPr id="632" name="Google Shape;632;p101"/>
            <p:cNvSpPr/>
            <p:nvPr/>
          </p:nvSpPr>
          <p:spPr>
            <a:xfrm>
              <a:off x="6607949" y="3519185"/>
              <a:ext cx="525900" cy="525900"/>
            </a:xfrm>
            <a:prstGeom prst="ellipse">
              <a:avLst/>
            </a:prstGeom>
            <a:solidFill>
              <a:srgbClr val="7798E2">
                <a:alpha val="5786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01"/>
            <p:cNvSpPr txBox="1"/>
            <p:nvPr/>
          </p:nvSpPr>
          <p:spPr>
            <a:xfrm>
              <a:off x="6700164" y="3679721"/>
              <a:ext cx="3417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lang="en" sz="1100">
                  <a:solidFill>
                    <a:srgbClr val="FFFFFF"/>
                  </a:solidFill>
                </a:rPr>
                <a:t>2%</a:t>
              </a:r>
              <a:endParaRPr/>
            </a:p>
          </p:txBody>
        </p:sp>
      </p:grpSp>
      <p:sp>
        <p:nvSpPr>
          <p:cNvPr id="634" name="Google Shape;634;p101"/>
          <p:cNvSpPr txBox="1"/>
          <p:nvPr/>
        </p:nvSpPr>
        <p:spPr>
          <a:xfrm>
            <a:off x="5665543" y="2635754"/>
            <a:ext cx="386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2CC"/>
                </a:solidFill>
                <a:latin typeface="Lexend"/>
                <a:ea typeface="Lexend"/>
                <a:cs typeface="Lexend"/>
                <a:sym typeface="Lexend"/>
              </a:rPr>
              <a:t>2,800</a:t>
            </a:r>
            <a:r>
              <a:rPr b="1" lang="en" sz="1200">
                <a:solidFill>
                  <a:srgbClr val="FFF2CC"/>
                </a:solidFill>
                <a:latin typeface="Lexend"/>
                <a:ea typeface="Lexend"/>
                <a:cs typeface="Lexend"/>
                <a:sym typeface="Lexend"/>
              </a:rPr>
              <a:t>[1]</a:t>
            </a:r>
            <a:r>
              <a:rPr b="1" lang="en" sz="3200">
                <a:solidFill>
                  <a:srgbClr val="FFF2CC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3200">
              <a:solidFill>
                <a:srgbClr val="FFF2C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5" name="Google Shape;635;p101"/>
          <p:cNvSpPr/>
          <p:nvPr/>
        </p:nvSpPr>
        <p:spPr>
          <a:xfrm>
            <a:off x="6451100" y="1432600"/>
            <a:ext cx="2692800" cy="1047900"/>
          </a:xfrm>
          <a:prstGeom prst="rect">
            <a:avLst/>
          </a:prstGeom>
          <a:solidFill>
            <a:srgbClr val="B973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01"/>
          <p:cNvSpPr txBox="1"/>
          <p:nvPr/>
        </p:nvSpPr>
        <p:spPr>
          <a:xfrm>
            <a:off x="7669571" y="2593038"/>
            <a:ext cx="1485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Servers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Cashiers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Cooks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Management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101"/>
          <p:cNvSpPr txBox="1"/>
          <p:nvPr/>
        </p:nvSpPr>
        <p:spPr>
          <a:xfrm>
            <a:off x="772600" y="3728450"/>
            <a:ext cx="3688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E2E2E"/>
                </a:solidFill>
                <a:latin typeface="Lexend Light"/>
                <a:ea typeface="Lexend Light"/>
                <a:cs typeface="Lexend Light"/>
                <a:sym typeface="Lexend Light"/>
              </a:rPr>
              <a:t>Location Distribution as of November 2024</a:t>
            </a:r>
            <a:endParaRPr sz="1200">
              <a:solidFill>
                <a:srgbClr val="2E2E2E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38" name="Google Shape;638;p101"/>
          <p:cNvGrpSpPr/>
          <p:nvPr/>
        </p:nvGrpSpPr>
        <p:grpSpPr>
          <a:xfrm>
            <a:off x="3751551" y="1292517"/>
            <a:ext cx="996793" cy="996793"/>
            <a:chOff x="4373610" y="3094579"/>
            <a:chExt cx="684000" cy="684000"/>
          </a:xfrm>
        </p:grpSpPr>
        <p:sp>
          <p:nvSpPr>
            <p:cNvPr id="639" name="Google Shape;639;p101"/>
            <p:cNvSpPr/>
            <p:nvPr/>
          </p:nvSpPr>
          <p:spPr>
            <a:xfrm>
              <a:off x="4373610" y="3094579"/>
              <a:ext cx="684000" cy="684000"/>
            </a:xfrm>
            <a:prstGeom prst="ellipse">
              <a:avLst/>
            </a:prstGeom>
            <a:solidFill>
              <a:srgbClr val="B97375">
                <a:alpha val="6961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01"/>
            <p:cNvSpPr txBox="1"/>
            <p:nvPr/>
          </p:nvSpPr>
          <p:spPr>
            <a:xfrm>
              <a:off x="4539626" y="3330996"/>
              <a:ext cx="3519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b="1" lang="en" sz="2000">
                  <a:solidFill>
                    <a:srgbClr val="FFFFFF"/>
                  </a:solidFill>
                </a:rPr>
                <a:t>67%</a:t>
              </a:r>
              <a:endParaRPr/>
            </a:p>
          </p:txBody>
        </p:sp>
      </p:grpSp>
      <p:sp>
        <p:nvSpPr>
          <p:cNvPr id="641" name="Google Shape;641;p101"/>
          <p:cNvSpPr txBox="1"/>
          <p:nvPr/>
        </p:nvSpPr>
        <p:spPr>
          <a:xfrm>
            <a:off x="7669571" y="1453100"/>
            <a:ext cx="14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East Asian Casual Dining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101"/>
          <p:cNvSpPr txBox="1"/>
          <p:nvPr/>
        </p:nvSpPr>
        <p:spPr>
          <a:xfrm>
            <a:off x="6396225" y="1945425"/>
            <a:ext cx="274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Similar to Olive Garden, Red Lobster, Applebee’s, etc. </a:t>
            </a:r>
            <a:endParaRPr sz="13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43" name="Google Shape;64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2"/>
          <p:cNvSpPr txBox="1"/>
          <p:nvPr/>
        </p:nvSpPr>
        <p:spPr>
          <a:xfrm>
            <a:off x="230650" y="0"/>
            <a:ext cx="78705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are some reasons for the low retention rate.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9" name="Google Shape;64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02"/>
          <p:cNvSpPr txBox="1"/>
          <p:nvPr/>
        </p:nvSpPr>
        <p:spPr>
          <a:xfrm>
            <a:off x="685050" y="3984125"/>
            <a:ext cx="7773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E2E2E"/>
                </a:solidFill>
                <a:latin typeface="Lexend Light"/>
                <a:ea typeface="Lexend Light"/>
                <a:cs typeface="Lexend Light"/>
                <a:sym typeface="Lexend Light"/>
              </a:rPr>
              <a:t>If employees aren’t satisfied then customer service quality decreases, </a:t>
            </a:r>
            <a:r>
              <a:rPr lang="en" sz="1500">
                <a:solidFill>
                  <a:srgbClr val="2E2E2E"/>
                </a:solidFill>
                <a:latin typeface="Lexend Light"/>
                <a:ea typeface="Lexend Light"/>
                <a:cs typeface="Lexend Light"/>
                <a:sym typeface="Lexend Light"/>
              </a:rPr>
              <a:t>negatively</a:t>
            </a:r>
            <a:r>
              <a:rPr lang="en" sz="1500">
                <a:solidFill>
                  <a:srgbClr val="2E2E2E"/>
                </a:solidFill>
                <a:latin typeface="Lexend Light"/>
                <a:ea typeface="Lexend Light"/>
                <a:cs typeface="Lexend Light"/>
                <a:sym typeface="Lexend Light"/>
              </a:rPr>
              <a:t> impacting Yanana Kitchen’s Co. </a:t>
            </a: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brand </a:t>
            </a:r>
            <a:r>
              <a:rPr lang="en" sz="1500">
                <a:solidFill>
                  <a:srgbClr val="2E2E2E"/>
                </a:solidFill>
                <a:latin typeface="Lexend Light"/>
                <a:ea typeface="Lexend Light"/>
                <a:cs typeface="Lexend Light"/>
                <a:sym typeface="Lexend Light"/>
              </a:rPr>
              <a:t>image.</a:t>
            </a:r>
            <a:endParaRPr sz="1500">
              <a:solidFill>
                <a:srgbClr val="2E2E2E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51" name="Google Shape;651;p102"/>
          <p:cNvSpPr/>
          <p:nvPr/>
        </p:nvSpPr>
        <p:spPr>
          <a:xfrm>
            <a:off x="230650" y="1526025"/>
            <a:ext cx="2812800" cy="1703700"/>
          </a:xfrm>
          <a:prstGeom prst="rect">
            <a:avLst/>
          </a:prstGeom>
          <a:solidFill>
            <a:srgbClr val="7798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Unhappiness with pay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652" name="Google Shape;652;p102"/>
          <p:cNvCxnSpPr/>
          <p:nvPr/>
        </p:nvCxnSpPr>
        <p:spPr>
          <a:xfrm>
            <a:off x="252000" y="3431550"/>
            <a:ext cx="864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102"/>
          <p:cNvSpPr/>
          <p:nvPr/>
        </p:nvSpPr>
        <p:spPr>
          <a:xfrm>
            <a:off x="3165600" y="1526025"/>
            <a:ext cx="2812800" cy="1703700"/>
          </a:xfrm>
          <a:prstGeom prst="rect">
            <a:avLst/>
          </a:prstGeom>
          <a:solidFill>
            <a:srgbClr val="B973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Schedule inflexibilities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54" name="Google Shape;654;p102"/>
          <p:cNvSpPr/>
          <p:nvPr/>
        </p:nvSpPr>
        <p:spPr>
          <a:xfrm>
            <a:off x="6100550" y="1526025"/>
            <a:ext cx="2812800" cy="1703700"/>
          </a:xfrm>
          <a:prstGeom prst="rect">
            <a:avLst/>
          </a:prstGeom>
          <a:solidFill>
            <a:srgbClr val="73937E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Lack of fulfilling 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work culture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55" name="Google Shape;655;p102"/>
          <p:cNvGrpSpPr/>
          <p:nvPr/>
        </p:nvGrpSpPr>
        <p:grpSpPr>
          <a:xfrm>
            <a:off x="4175700" y="3301650"/>
            <a:ext cx="670200" cy="259800"/>
            <a:chOff x="4175700" y="3301650"/>
            <a:chExt cx="670200" cy="259800"/>
          </a:xfrm>
        </p:grpSpPr>
        <p:sp>
          <p:nvSpPr>
            <p:cNvPr id="656" name="Google Shape;656;p102"/>
            <p:cNvSpPr/>
            <p:nvPr/>
          </p:nvSpPr>
          <p:spPr>
            <a:xfrm>
              <a:off x="4175700" y="3301650"/>
              <a:ext cx="670200" cy="25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02"/>
            <p:cNvSpPr/>
            <p:nvPr/>
          </p:nvSpPr>
          <p:spPr>
            <a:xfrm rot="5400000">
              <a:off x="4380900" y="3237000"/>
              <a:ext cx="259800" cy="3891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8" name="Google Shape;658;p102"/>
          <p:cNvSpPr txBox="1"/>
          <p:nvPr/>
        </p:nvSpPr>
        <p:spPr>
          <a:xfrm>
            <a:off x="1055400" y="957888"/>
            <a:ext cx="7033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Employee exit surveys report…</a:t>
            </a:r>
            <a:r>
              <a:rPr baseline="-25000" lang="en"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[1]</a:t>
            </a:r>
            <a:endParaRPr baseline="-25000"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03"/>
          <p:cNvSpPr/>
          <p:nvPr/>
        </p:nvSpPr>
        <p:spPr>
          <a:xfrm>
            <a:off x="257825" y="950600"/>
            <a:ext cx="1823700" cy="1153800"/>
          </a:xfrm>
          <a:prstGeom prst="rect">
            <a:avLst/>
          </a:prstGeom>
          <a:solidFill>
            <a:srgbClr val="73937E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Decrease turnover rate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64" name="Google Shape;664;p103"/>
          <p:cNvSpPr/>
          <p:nvPr/>
        </p:nvSpPr>
        <p:spPr>
          <a:xfrm>
            <a:off x="257825" y="2173713"/>
            <a:ext cx="1823700" cy="1294200"/>
          </a:xfrm>
          <a:prstGeom prst="rect">
            <a:avLst/>
          </a:prstGeom>
          <a:solidFill>
            <a:srgbClr val="73937E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Easily scalable 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65" name="Google Shape;665;p103"/>
          <p:cNvSpPr/>
          <p:nvPr/>
        </p:nvSpPr>
        <p:spPr>
          <a:xfrm>
            <a:off x="257975" y="3537400"/>
            <a:ext cx="1823700" cy="1477500"/>
          </a:xfrm>
          <a:prstGeom prst="rect">
            <a:avLst/>
          </a:prstGeom>
          <a:solidFill>
            <a:srgbClr val="73937E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Decrease hiring costs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666" name="Google Shape;666;p103"/>
          <p:cNvCxnSpPr/>
          <p:nvPr/>
        </p:nvCxnSpPr>
        <p:spPr>
          <a:xfrm>
            <a:off x="6780325" y="964800"/>
            <a:ext cx="5400" cy="40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103"/>
          <p:cNvSpPr/>
          <p:nvPr/>
        </p:nvSpPr>
        <p:spPr>
          <a:xfrm>
            <a:off x="8723748" y="1744643"/>
            <a:ext cx="310968" cy="310968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03"/>
          <p:cNvSpPr/>
          <p:nvPr/>
        </p:nvSpPr>
        <p:spPr>
          <a:xfrm>
            <a:off x="8723750" y="3353188"/>
            <a:ext cx="310975" cy="310975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03"/>
          <p:cNvSpPr txBox="1"/>
          <p:nvPr/>
        </p:nvSpPr>
        <p:spPr>
          <a:xfrm>
            <a:off x="6701675" y="1513425"/>
            <a:ext cx="20628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New Internal Policies </a:t>
            </a:r>
            <a:endParaRPr sz="2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103"/>
          <p:cNvSpPr/>
          <p:nvPr/>
        </p:nvSpPr>
        <p:spPr>
          <a:xfrm>
            <a:off x="2189650" y="950725"/>
            <a:ext cx="1445100" cy="1153800"/>
          </a:xfrm>
          <a:prstGeom prst="rect">
            <a:avLst/>
          </a:prstGeom>
          <a:solidFill>
            <a:srgbClr val="7798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11%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annual decrease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1" name="Google Shape;671;p103"/>
          <p:cNvSpPr/>
          <p:nvPr/>
        </p:nvSpPr>
        <p:spPr>
          <a:xfrm>
            <a:off x="2189650" y="2173750"/>
            <a:ext cx="1445100" cy="1294200"/>
          </a:xfrm>
          <a:prstGeom prst="rect">
            <a:avLst/>
          </a:prstGeom>
          <a:solidFill>
            <a:srgbClr val="7898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Process standardized across all restaurants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2" name="Google Shape;672;p103"/>
          <p:cNvSpPr/>
          <p:nvPr/>
        </p:nvSpPr>
        <p:spPr>
          <a:xfrm>
            <a:off x="2189650" y="3537400"/>
            <a:ext cx="1445100" cy="1477500"/>
          </a:xfrm>
          <a:prstGeom prst="rect">
            <a:avLst/>
          </a:prstGeom>
          <a:solidFill>
            <a:srgbClr val="454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$160,000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annual decrease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3" name="Google Shape;673;p103"/>
          <p:cNvSpPr txBox="1"/>
          <p:nvPr/>
        </p:nvSpPr>
        <p:spPr>
          <a:xfrm>
            <a:off x="6761100" y="2999575"/>
            <a:ext cx="20628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Improved chain of command</a:t>
            </a:r>
            <a:endParaRPr sz="2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103"/>
          <p:cNvSpPr/>
          <p:nvPr/>
        </p:nvSpPr>
        <p:spPr>
          <a:xfrm>
            <a:off x="3716884" y="950725"/>
            <a:ext cx="2903700" cy="2517300"/>
          </a:xfrm>
          <a:prstGeom prst="rect">
            <a:avLst/>
          </a:prstGeom>
          <a:solidFill>
            <a:srgbClr val="A1B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Starbucks is well-known for its employee satisfaction policies offering perks such as competitive pay and subsidized healthcare. It has a turnover rate </a:t>
            </a: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18%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lower than the industry average of </a:t>
            </a: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83.4%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. From 2022 to 2023, it decreased its turnover rate by </a:t>
            </a: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11%</a:t>
            </a:r>
            <a:r>
              <a:rPr lang="en"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[2][3][4]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.  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5" name="Google Shape;675;p103"/>
          <p:cNvSpPr/>
          <p:nvPr/>
        </p:nvSpPr>
        <p:spPr>
          <a:xfrm>
            <a:off x="3730700" y="3537300"/>
            <a:ext cx="2903700" cy="1477500"/>
          </a:xfrm>
          <a:prstGeom prst="rect">
            <a:avLst/>
          </a:prstGeom>
          <a:solidFill>
            <a:srgbClr val="444A4A">
              <a:alpha val="71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Yanana currently replaces </a:t>
            </a: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3360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 employees annually at a rate of </a:t>
            </a: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$447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per hire</a:t>
            </a: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[1]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. An </a:t>
            </a: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11%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annual decrease in turnover reduces hiring costs by </a:t>
            </a: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175K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in the first year alone and around </a:t>
            </a:r>
            <a:r>
              <a:rPr b="1"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160K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thereafter.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76" name="Google Shape;67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103"/>
          <p:cNvSpPr txBox="1"/>
          <p:nvPr/>
        </p:nvSpPr>
        <p:spPr>
          <a:xfrm>
            <a:off x="176850" y="93000"/>
            <a:ext cx="78705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Employee satisfaction at Yanana Kitchens Co. is Low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We’re working to change that.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9" name="Google Shape;679;p103"/>
          <p:cNvGrpSpPr/>
          <p:nvPr/>
        </p:nvGrpSpPr>
        <p:grpSpPr>
          <a:xfrm rot="-5400000">
            <a:off x="6524125" y="2690950"/>
            <a:ext cx="670200" cy="259800"/>
            <a:chOff x="4175700" y="3301650"/>
            <a:chExt cx="670200" cy="259800"/>
          </a:xfrm>
        </p:grpSpPr>
        <p:sp>
          <p:nvSpPr>
            <p:cNvPr id="680" name="Google Shape;680;p103"/>
            <p:cNvSpPr/>
            <p:nvPr/>
          </p:nvSpPr>
          <p:spPr>
            <a:xfrm>
              <a:off x="4175700" y="3301650"/>
              <a:ext cx="670200" cy="259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03"/>
            <p:cNvSpPr/>
            <p:nvPr/>
          </p:nvSpPr>
          <p:spPr>
            <a:xfrm rot="5400000">
              <a:off x="4380900" y="3237000"/>
              <a:ext cx="259800" cy="3891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04"/>
          <p:cNvSpPr txBox="1"/>
          <p:nvPr/>
        </p:nvSpPr>
        <p:spPr>
          <a:xfrm>
            <a:off x="196100" y="135075"/>
            <a:ext cx="80622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New internal policies will help employees feel </a:t>
            </a: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personally invested</a:t>
            </a: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 in their work.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104"/>
          <p:cNvSpPr/>
          <p:nvPr/>
        </p:nvSpPr>
        <p:spPr>
          <a:xfrm>
            <a:off x="878360" y="1984340"/>
            <a:ext cx="345600" cy="279955"/>
          </a:xfrm>
          <a:prstGeom prst="triangle">
            <a:avLst>
              <a:gd fmla="val 50000" name="adj"/>
            </a:avLst>
          </a:prstGeom>
          <a:solidFill>
            <a:srgbClr val="454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04"/>
          <p:cNvSpPr/>
          <p:nvPr/>
        </p:nvSpPr>
        <p:spPr>
          <a:xfrm>
            <a:off x="374525" y="2264161"/>
            <a:ext cx="5983200" cy="2395997"/>
          </a:xfrm>
          <a:prstGeom prst="roundRect">
            <a:avLst>
              <a:gd fmla="val 6561" name="adj"/>
            </a:avLst>
          </a:prstGeom>
          <a:solidFill>
            <a:srgbClr val="454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9" name="Google Shape;689;p104"/>
          <p:cNvGrpSpPr/>
          <p:nvPr/>
        </p:nvGrpSpPr>
        <p:grpSpPr>
          <a:xfrm>
            <a:off x="6586181" y="1139967"/>
            <a:ext cx="2361900" cy="576069"/>
            <a:chOff x="6473031" y="1088279"/>
            <a:chExt cx="2361900" cy="576069"/>
          </a:xfrm>
        </p:grpSpPr>
        <p:sp>
          <p:nvSpPr>
            <p:cNvPr id="690" name="Google Shape;690;p104"/>
            <p:cNvSpPr/>
            <p:nvPr/>
          </p:nvSpPr>
          <p:spPr>
            <a:xfrm rot="10800000">
              <a:off x="8431711" y="1376348"/>
              <a:ext cx="345600" cy="288000"/>
            </a:xfrm>
            <a:prstGeom prst="triangle">
              <a:avLst>
                <a:gd fmla="val 50000" name="adj"/>
              </a:avLst>
            </a:prstGeom>
            <a:solidFill>
              <a:srgbClr val="7798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91" name="Google Shape;691;p104"/>
            <p:cNvSpPr/>
            <p:nvPr/>
          </p:nvSpPr>
          <p:spPr>
            <a:xfrm>
              <a:off x="6473031" y="1088279"/>
              <a:ext cx="2361900" cy="403200"/>
            </a:xfrm>
            <a:prstGeom prst="roundRect">
              <a:avLst>
                <a:gd fmla="val 6561" name="adj"/>
              </a:avLst>
            </a:prstGeom>
            <a:solidFill>
              <a:srgbClr val="7798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Why It Matters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92" name="Google Shape;692;p104"/>
          <p:cNvSpPr txBox="1"/>
          <p:nvPr/>
        </p:nvSpPr>
        <p:spPr>
          <a:xfrm>
            <a:off x="464077" y="2573450"/>
            <a:ext cx="58041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Full time employees are eligible for childcare and healthcare </a:t>
            </a:r>
            <a:r>
              <a:rPr lang="en"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[8]</a:t>
            </a:r>
            <a:endParaRPr sz="10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At least </a:t>
            </a:r>
            <a:r>
              <a:rPr b="1" lang="en" sz="1200">
                <a:solidFill>
                  <a:srgbClr val="FFF2CC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 days after their employment start date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Yanana will cover </a:t>
            </a:r>
            <a:r>
              <a:rPr b="1" lang="en" sz="1200">
                <a:solidFill>
                  <a:srgbClr val="FFF2CC"/>
                </a:solidFill>
                <a:latin typeface="Lexend"/>
                <a:ea typeface="Lexend"/>
                <a:cs typeface="Lexend"/>
                <a:sym typeface="Lexend"/>
              </a:rPr>
              <a:t>50%</a:t>
            </a:r>
            <a:r>
              <a:rPr b="1"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of the fees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Full time employees are guaranteed unpaid time off on their birthdays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Full time employees get one week of paid time off </a:t>
            </a:r>
            <a:r>
              <a:rPr lang="en"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[6]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Employees are mandated to take paid 10 minute breaks every shift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Consistent “Employee of the Month” Award</a:t>
            </a:r>
            <a:endParaRPr sz="10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Every 2 times an employee receives EOTM, they receive a </a:t>
            </a:r>
            <a:r>
              <a:rPr b="1" lang="en" sz="1200">
                <a:solidFill>
                  <a:srgbClr val="FFF2CC"/>
                </a:solidFill>
                <a:latin typeface="Lexend"/>
                <a:ea typeface="Lexend"/>
                <a:cs typeface="Lexend"/>
                <a:sym typeface="Lexend"/>
              </a:rPr>
              <a:t>50¢</a:t>
            </a:r>
            <a:r>
              <a:rPr lang="en" sz="1200">
                <a:solidFill>
                  <a:srgbClr val="FFF2CC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raise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3" name="Google Shape;693;p104"/>
          <p:cNvSpPr txBox="1"/>
          <p:nvPr/>
        </p:nvSpPr>
        <p:spPr>
          <a:xfrm>
            <a:off x="6885166" y="1741400"/>
            <a:ext cx="206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Decrease Turnover Rate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104"/>
          <p:cNvSpPr txBox="1"/>
          <p:nvPr/>
        </p:nvSpPr>
        <p:spPr>
          <a:xfrm>
            <a:off x="6961383" y="1968309"/>
            <a:ext cx="212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Increased benefits intended to keep employees satisfied which helps employees feel personally invested in the company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5" name="Google Shape;695;p104"/>
          <p:cNvSpPr txBox="1"/>
          <p:nvPr/>
        </p:nvSpPr>
        <p:spPr>
          <a:xfrm>
            <a:off x="6880594" y="2754800"/>
            <a:ext cx="166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Easily Scalable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104"/>
          <p:cNvSpPr txBox="1"/>
          <p:nvPr/>
        </p:nvSpPr>
        <p:spPr>
          <a:xfrm>
            <a:off x="6930933" y="2984043"/>
            <a:ext cx="2123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Policies will be standardized throughout all locations so employees and customers get a consistent experience with Yanana Kitchens Co.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7" name="Google Shape;697;p104"/>
          <p:cNvSpPr txBox="1"/>
          <p:nvPr/>
        </p:nvSpPr>
        <p:spPr>
          <a:xfrm>
            <a:off x="6880601" y="3890350"/>
            <a:ext cx="212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Decrease Hiring Costs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8" name="Google Shape;698;p104"/>
          <p:cNvSpPr txBox="1"/>
          <p:nvPr/>
        </p:nvSpPr>
        <p:spPr>
          <a:xfrm>
            <a:off x="6956808" y="4117259"/>
            <a:ext cx="21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hiring process occurs less which helps the company recover from the </a:t>
            </a: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$1.5 million loss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9" name="Google Shape;699;p104"/>
          <p:cNvSpPr/>
          <p:nvPr/>
        </p:nvSpPr>
        <p:spPr>
          <a:xfrm>
            <a:off x="6534523" y="1920668"/>
            <a:ext cx="310968" cy="310968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04"/>
          <p:cNvSpPr/>
          <p:nvPr/>
        </p:nvSpPr>
        <p:spPr>
          <a:xfrm>
            <a:off x="6529948" y="2905506"/>
            <a:ext cx="310968" cy="310968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04"/>
          <p:cNvSpPr/>
          <p:nvPr/>
        </p:nvSpPr>
        <p:spPr>
          <a:xfrm>
            <a:off x="6529948" y="4037868"/>
            <a:ext cx="310968" cy="310968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04"/>
          <p:cNvSpPr/>
          <p:nvPr/>
        </p:nvSpPr>
        <p:spPr>
          <a:xfrm>
            <a:off x="374525" y="1139970"/>
            <a:ext cx="2806800" cy="715800"/>
          </a:xfrm>
          <a:prstGeom prst="rect">
            <a:avLst/>
          </a:prstGeom>
          <a:solidFill>
            <a:srgbClr val="B973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New Internal Policies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3" name="Google Shape;703;p104"/>
          <p:cNvSpPr/>
          <p:nvPr/>
        </p:nvSpPr>
        <p:spPr>
          <a:xfrm>
            <a:off x="3550925" y="1139775"/>
            <a:ext cx="2806800" cy="715800"/>
          </a:xfrm>
          <a:prstGeom prst="rect">
            <a:avLst/>
          </a:prstGeom>
          <a:solidFill>
            <a:srgbClr val="B973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Improved Chain of Command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05"/>
          <p:cNvSpPr/>
          <p:nvPr/>
        </p:nvSpPr>
        <p:spPr>
          <a:xfrm>
            <a:off x="1929888" y="2264250"/>
            <a:ext cx="4427700" cy="2395800"/>
          </a:xfrm>
          <a:prstGeom prst="roundRect">
            <a:avLst>
              <a:gd fmla="val 6561" name="adj"/>
            </a:avLst>
          </a:prstGeom>
          <a:solidFill>
            <a:srgbClr val="454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05"/>
          <p:cNvSpPr txBox="1"/>
          <p:nvPr/>
        </p:nvSpPr>
        <p:spPr>
          <a:xfrm>
            <a:off x="2114350" y="2366875"/>
            <a:ext cx="4047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Cashier role removed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Servers now process tabs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Cashiers get rehired as servers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Increase part time staff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More people to cover shifts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Increased and updated training </a:t>
            </a:r>
            <a:r>
              <a:rPr lang="en"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[14]</a:t>
            </a:r>
            <a:endParaRPr sz="10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rabi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Centralized App </a:t>
            </a:r>
            <a:r>
              <a:rPr lang="en"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[15]</a:t>
            </a:r>
            <a:endParaRPr sz="10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Direct communication between management and employees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Communication between local management and HQ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AutoNum type="alphaLcPeriod"/>
            </a:pP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Monthly schedule release</a:t>
            </a:r>
            <a:endParaRPr sz="12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11" name="Google Shape;711;p105"/>
          <p:cNvSpPr/>
          <p:nvPr/>
        </p:nvSpPr>
        <p:spPr>
          <a:xfrm>
            <a:off x="5145560" y="1984340"/>
            <a:ext cx="345600" cy="279900"/>
          </a:xfrm>
          <a:prstGeom prst="triangle">
            <a:avLst>
              <a:gd fmla="val 50000" name="adj"/>
            </a:avLst>
          </a:prstGeom>
          <a:solidFill>
            <a:srgbClr val="454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05"/>
          <p:cNvSpPr/>
          <p:nvPr/>
        </p:nvSpPr>
        <p:spPr>
          <a:xfrm>
            <a:off x="374525" y="1139970"/>
            <a:ext cx="2806800" cy="715800"/>
          </a:xfrm>
          <a:prstGeom prst="rect">
            <a:avLst/>
          </a:prstGeom>
          <a:solidFill>
            <a:srgbClr val="B973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New Internal Policies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105"/>
          <p:cNvSpPr/>
          <p:nvPr/>
        </p:nvSpPr>
        <p:spPr>
          <a:xfrm>
            <a:off x="3550925" y="1139775"/>
            <a:ext cx="2806800" cy="715800"/>
          </a:xfrm>
          <a:prstGeom prst="rect">
            <a:avLst/>
          </a:prstGeom>
          <a:solidFill>
            <a:srgbClr val="B973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Improved Chain of Command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4" name="Google Shape;71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5" y="2027374"/>
            <a:ext cx="1139831" cy="286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105"/>
          <p:cNvSpPr txBox="1"/>
          <p:nvPr/>
        </p:nvSpPr>
        <p:spPr>
          <a:xfrm>
            <a:off x="176850" y="93000"/>
            <a:ext cx="78705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An improved chain of command helps </a:t>
            </a: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globally</a:t>
            </a: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increase </a:t>
            </a: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employee retention.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17" name="Google Shape;717;p105"/>
          <p:cNvGrpSpPr/>
          <p:nvPr/>
        </p:nvGrpSpPr>
        <p:grpSpPr>
          <a:xfrm>
            <a:off x="6586181" y="1139967"/>
            <a:ext cx="2361900" cy="576069"/>
            <a:chOff x="6473031" y="1088279"/>
            <a:chExt cx="2361900" cy="576069"/>
          </a:xfrm>
        </p:grpSpPr>
        <p:sp>
          <p:nvSpPr>
            <p:cNvPr id="718" name="Google Shape;718;p105"/>
            <p:cNvSpPr/>
            <p:nvPr/>
          </p:nvSpPr>
          <p:spPr>
            <a:xfrm rot="10800000">
              <a:off x="8431711" y="1376348"/>
              <a:ext cx="345600" cy="288000"/>
            </a:xfrm>
            <a:prstGeom prst="triangle">
              <a:avLst>
                <a:gd fmla="val 50000" name="adj"/>
              </a:avLst>
            </a:prstGeom>
            <a:solidFill>
              <a:srgbClr val="7798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19" name="Google Shape;719;p105"/>
            <p:cNvSpPr/>
            <p:nvPr/>
          </p:nvSpPr>
          <p:spPr>
            <a:xfrm>
              <a:off x="6473031" y="1088279"/>
              <a:ext cx="2361900" cy="403200"/>
            </a:xfrm>
            <a:prstGeom prst="roundRect">
              <a:avLst>
                <a:gd fmla="val 6561" name="adj"/>
              </a:avLst>
            </a:prstGeom>
            <a:solidFill>
              <a:srgbClr val="7798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Why It Matters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20" name="Google Shape;720;p105"/>
          <p:cNvSpPr txBox="1"/>
          <p:nvPr/>
        </p:nvSpPr>
        <p:spPr>
          <a:xfrm>
            <a:off x="6885166" y="1741400"/>
            <a:ext cx="206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Decrease Turnover Rate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105"/>
          <p:cNvSpPr txBox="1"/>
          <p:nvPr/>
        </p:nvSpPr>
        <p:spPr>
          <a:xfrm>
            <a:off x="6961383" y="1968309"/>
            <a:ext cx="21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Increased benefits intended to keep a balanced team dynamic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22" name="Google Shape;722;p105"/>
          <p:cNvSpPr txBox="1"/>
          <p:nvPr/>
        </p:nvSpPr>
        <p:spPr>
          <a:xfrm>
            <a:off x="6880594" y="2754800"/>
            <a:ext cx="166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Easily Scalable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105"/>
          <p:cNvSpPr txBox="1"/>
          <p:nvPr/>
        </p:nvSpPr>
        <p:spPr>
          <a:xfrm>
            <a:off x="6956808" y="2981706"/>
            <a:ext cx="2123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number of employees per store can be scaled to fit the demographics of each specific location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24" name="Google Shape;724;p105"/>
          <p:cNvSpPr txBox="1"/>
          <p:nvPr/>
        </p:nvSpPr>
        <p:spPr>
          <a:xfrm>
            <a:off x="6880601" y="3890350"/>
            <a:ext cx="212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Decrease Hiring Costs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105"/>
          <p:cNvSpPr txBox="1"/>
          <p:nvPr/>
        </p:nvSpPr>
        <p:spPr>
          <a:xfrm>
            <a:off x="6956808" y="4117259"/>
            <a:ext cx="212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Since the 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restaurant</a:t>
            </a: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is a casual sit down experience, the cashier role can be filled by the server, cutting hiring requirements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26" name="Google Shape;726;p105"/>
          <p:cNvSpPr/>
          <p:nvPr/>
        </p:nvSpPr>
        <p:spPr>
          <a:xfrm>
            <a:off x="6534523" y="1920668"/>
            <a:ext cx="310968" cy="310968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05"/>
          <p:cNvSpPr/>
          <p:nvPr/>
        </p:nvSpPr>
        <p:spPr>
          <a:xfrm>
            <a:off x="6529948" y="2905506"/>
            <a:ext cx="310968" cy="310968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05"/>
          <p:cNvSpPr/>
          <p:nvPr/>
        </p:nvSpPr>
        <p:spPr>
          <a:xfrm>
            <a:off x="6529948" y="4037868"/>
            <a:ext cx="310968" cy="310968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3876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06"/>
          <p:cNvSpPr/>
          <p:nvPr/>
        </p:nvSpPr>
        <p:spPr>
          <a:xfrm>
            <a:off x="5530329" y="3038025"/>
            <a:ext cx="1449824" cy="1198639"/>
          </a:xfrm>
          <a:custGeom>
            <a:rect b="b" l="l" r="r" t="t"/>
            <a:pathLst>
              <a:path extrusionOk="0" h="1373798" w="1571625">
                <a:moveTo>
                  <a:pt x="0" y="206070"/>
                </a:moveTo>
                <a:lnTo>
                  <a:pt x="884726" y="206070"/>
                </a:lnTo>
                <a:lnTo>
                  <a:pt x="884726" y="0"/>
                </a:lnTo>
                <a:lnTo>
                  <a:pt x="1571625" y="686899"/>
                </a:lnTo>
                <a:lnTo>
                  <a:pt x="884726" y="1373798"/>
                </a:lnTo>
                <a:lnTo>
                  <a:pt x="884726" y="1167728"/>
                </a:lnTo>
                <a:lnTo>
                  <a:pt x="0" y="1167728"/>
                </a:lnTo>
                <a:lnTo>
                  <a:pt x="0" y="206070"/>
                </a:lnTo>
                <a:close/>
              </a:path>
            </a:pathLst>
          </a:custGeom>
          <a:solidFill>
            <a:srgbClr val="7798E2"/>
          </a:solidFill>
          <a:ln>
            <a:noFill/>
          </a:ln>
        </p:spPr>
        <p:txBody>
          <a:bodyPr anchorCtr="0" anchor="ctr" bIns="217500" lIns="438625" spcFirstLastPara="1" rIns="435400" wrap="square" tIns="217500">
            <a:noAutofit/>
          </a:bodyPr>
          <a:lstStyle/>
          <a:p>
            <a:pPr indent="-171450" lvl="1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600" u="none" cap="none" strike="noStrike">
              <a:solidFill>
                <a:srgbClr val="6350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06"/>
          <p:cNvSpPr/>
          <p:nvPr/>
        </p:nvSpPr>
        <p:spPr>
          <a:xfrm>
            <a:off x="3756604" y="3038025"/>
            <a:ext cx="1449824" cy="1198639"/>
          </a:xfrm>
          <a:custGeom>
            <a:rect b="b" l="l" r="r" t="t"/>
            <a:pathLst>
              <a:path extrusionOk="0" h="1373798" w="1571625">
                <a:moveTo>
                  <a:pt x="0" y="206070"/>
                </a:moveTo>
                <a:lnTo>
                  <a:pt x="884726" y="206070"/>
                </a:lnTo>
                <a:lnTo>
                  <a:pt x="884726" y="0"/>
                </a:lnTo>
                <a:lnTo>
                  <a:pt x="1571625" y="686899"/>
                </a:lnTo>
                <a:lnTo>
                  <a:pt x="884726" y="1373798"/>
                </a:lnTo>
                <a:lnTo>
                  <a:pt x="884726" y="1167728"/>
                </a:lnTo>
                <a:lnTo>
                  <a:pt x="0" y="1167728"/>
                </a:lnTo>
                <a:lnTo>
                  <a:pt x="0" y="206070"/>
                </a:lnTo>
                <a:close/>
              </a:path>
            </a:pathLst>
          </a:custGeom>
          <a:solidFill>
            <a:srgbClr val="7798E2"/>
          </a:solidFill>
          <a:ln>
            <a:noFill/>
          </a:ln>
        </p:spPr>
        <p:txBody>
          <a:bodyPr anchorCtr="0" anchor="ctr" bIns="217500" lIns="438625" spcFirstLastPara="1" rIns="435400" wrap="square" tIns="217500">
            <a:noAutofit/>
          </a:bodyPr>
          <a:lstStyle/>
          <a:p>
            <a:pPr indent="-171450" lvl="1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600" u="none" cap="none" strike="noStrike">
              <a:solidFill>
                <a:srgbClr val="6350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06"/>
          <p:cNvSpPr/>
          <p:nvPr/>
        </p:nvSpPr>
        <p:spPr>
          <a:xfrm>
            <a:off x="1964242" y="3045475"/>
            <a:ext cx="1449824" cy="1198639"/>
          </a:xfrm>
          <a:custGeom>
            <a:rect b="b" l="l" r="r" t="t"/>
            <a:pathLst>
              <a:path extrusionOk="0" h="1373798" w="1571625">
                <a:moveTo>
                  <a:pt x="0" y="206070"/>
                </a:moveTo>
                <a:lnTo>
                  <a:pt x="884726" y="206070"/>
                </a:lnTo>
                <a:lnTo>
                  <a:pt x="884726" y="0"/>
                </a:lnTo>
                <a:lnTo>
                  <a:pt x="1571625" y="686899"/>
                </a:lnTo>
                <a:lnTo>
                  <a:pt x="884726" y="1373798"/>
                </a:lnTo>
                <a:lnTo>
                  <a:pt x="884726" y="1167728"/>
                </a:lnTo>
                <a:lnTo>
                  <a:pt x="0" y="1167728"/>
                </a:lnTo>
                <a:lnTo>
                  <a:pt x="0" y="206070"/>
                </a:lnTo>
                <a:close/>
              </a:path>
            </a:pathLst>
          </a:custGeom>
          <a:solidFill>
            <a:srgbClr val="7798E2"/>
          </a:solidFill>
          <a:ln>
            <a:noFill/>
          </a:ln>
        </p:spPr>
        <p:txBody>
          <a:bodyPr anchorCtr="0" anchor="ctr" bIns="217500" lIns="438625" spcFirstLastPara="1" rIns="435400" wrap="square" tIns="217500">
            <a:noAutofit/>
          </a:bodyPr>
          <a:lstStyle/>
          <a:p>
            <a:pPr indent="-171450" lvl="1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600" u="none" cap="none" strike="noStrike">
              <a:solidFill>
                <a:srgbClr val="6350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6" name="Google Shape;736;p106"/>
          <p:cNvGrpSpPr/>
          <p:nvPr/>
        </p:nvGrpSpPr>
        <p:grpSpPr>
          <a:xfrm>
            <a:off x="1495477" y="3271716"/>
            <a:ext cx="757305" cy="747533"/>
            <a:chOff x="5249342" y="1406453"/>
            <a:chExt cx="648600" cy="648900"/>
          </a:xfrm>
        </p:grpSpPr>
        <p:sp>
          <p:nvSpPr>
            <p:cNvPr id="737" name="Google Shape;737;p106"/>
            <p:cNvSpPr/>
            <p:nvPr/>
          </p:nvSpPr>
          <p:spPr>
            <a:xfrm>
              <a:off x="5249342" y="1406453"/>
              <a:ext cx="648600" cy="648900"/>
            </a:xfrm>
            <a:prstGeom prst="ellipse">
              <a:avLst/>
            </a:prstGeom>
            <a:solidFill>
              <a:srgbClr val="A1B9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06"/>
            <p:cNvSpPr/>
            <p:nvPr/>
          </p:nvSpPr>
          <p:spPr>
            <a:xfrm>
              <a:off x="5324169" y="1481343"/>
              <a:ext cx="498900" cy="499200"/>
            </a:xfrm>
            <a:prstGeom prst="ellipse">
              <a:avLst/>
            </a:prstGeom>
            <a:solidFill>
              <a:srgbClr val="7798E2">
                <a:alpha val="1698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" sz="1600">
                  <a:solidFill>
                    <a:srgbClr val="FFFFFF"/>
                  </a:solidFill>
                </a:rPr>
                <a:t>1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p106"/>
          <p:cNvSpPr txBox="1"/>
          <p:nvPr/>
        </p:nvSpPr>
        <p:spPr>
          <a:xfrm>
            <a:off x="237750" y="57888"/>
            <a:ext cx="8279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Increasing employee benefits generates </a:t>
            </a: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long-term returns</a:t>
            </a: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40" name="Google Shape;740;p106"/>
          <p:cNvPicPr preferRelativeResize="0"/>
          <p:nvPr/>
        </p:nvPicPr>
        <p:blipFill rotWithShape="1">
          <a:blip r:embed="rId3">
            <a:alphaModFix/>
          </a:blip>
          <a:srcRect b="2657" l="0" r="1039" t="0"/>
          <a:stretch/>
        </p:blipFill>
        <p:spPr>
          <a:xfrm>
            <a:off x="361475" y="708775"/>
            <a:ext cx="4712851" cy="2174325"/>
          </a:xfrm>
          <a:prstGeom prst="rect">
            <a:avLst/>
          </a:prstGeom>
          <a:noFill/>
          <a:ln cap="flat" cmpd="sng" w="19050">
            <a:solidFill>
              <a:srgbClr val="7798E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1" name="Google Shape;741;p106"/>
          <p:cNvSpPr txBox="1"/>
          <p:nvPr/>
        </p:nvSpPr>
        <p:spPr>
          <a:xfrm>
            <a:off x="235775" y="4399050"/>
            <a:ext cx="8654700" cy="670200"/>
          </a:xfrm>
          <a:prstGeom prst="rect">
            <a:avLst/>
          </a:prstGeom>
          <a:solidFill>
            <a:srgbClr val="B97375">
              <a:alpha val="6961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Tax savings return from </a:t>
            </a:r>
            <a:r>
              <a:rPr lang="en" sz="17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Health &amp; childcare Benefits: </a:t>
            </a: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$36,045.21</a:t>
            </a:r>
            <a:endParaRPr sz="17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Total annual operational costs: $1,022,657.01</a:t>
            </a:r>
            <a:endParaRPr sz="17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42" name="Google Shape;742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3" name="Google Shape;743;p106"/>
          <p:cNvGrpSpPr/>
          <p:nvPr/>
        </p:nvGrpSpPr>
        <p:grpSpPr>
          <a:xfrm>
            <a:off x="4888927" y="3284898"/>
            <a:ext cx="776244" cy="778680"/>
            <a:chOff x="5249342" y="1406453"/>
            <a:chExt cx="648600" cy="648900"/>
          </a:xfrm>
        </p:grpSpPr>
        <p:sp>
          <p:nvSpPr>
            <p:cNvPr id="744" name="Google Shape;744;p106"/>
            <p:cNvSpPr/>
            <p:nvPr/>
          </p:nvSpPr>
          <p:spPr>
            <a:xfrm>
              <a:off x="5249342" y="1406453"/>
              <a:ext cx="648600" cy="648900"/>
            </a:xfrm>
            <a:prstGeom prst="ellipse">
              <a:avLst/>
            </a:prstGeom>
            <a:solidFill>
              <a:srgbClr val="A1B9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06"/>
            <p:cNvSpPr/>
            <p:nvPr/>
          </p:nvSpPr>
          <p:spPr>
            <a:xfrm>
              <a:off x="5324169" y="1481343"/>
              <a:ext cx="498900" cy="499200"/>
            </a:xfrm>
            <a:prstGeom prst="ellipse">
              <a:avLst/>
            </a:prstGeom>
            <a:solidFill>
              <a:srgbClr val="7798E2">
                <a:alpha val="1698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" sz="1600">
                  <a:solidFill>
                    <a:srgbClr val="FFFFFF"/>
                  </a:solidFill>
                </a:rPr>
                <a:t>3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p106"/>
          <p:cNvGrpSpPr/>
          <p:nvPr/>
        </p:nvGrpSpPr>
        <p:grpSpPr>
          <a:xfrm>
            <a:off x="6865225" y="3265350"/>
            <a:ext cx="783300" cy="783300"/>
            <a:chOff x="7749825" y="3377175"/>
            <a:chExt cx="783300" cy="783300"/>
          </a:xfrm>
        </p:grpSpPr>
        <p:sp>
          <p:nvSpPr>
            <p:cNvPr id="747" name="Google Shape;747;p106"/>
            <p:cNvSpPr/>
            <p:nvPr/>
          </p:nvSpPr>
          <p:spPr>
            <a:xfrm>
              <a:off x="7749825" y="3377175"/>
              <a:ext cx="783300" cy="783300"/>
            </a:xfrm>
            <a:prstGeom prst="ellipse">
              <a:avLst/>
            </a:prstGeom>
            <a:solidFill>
              <a:srgbClr val="7798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06"/>
            <p:cNvSpPr/>
            <p:nvPr/>
          </p:nvSpPr>
          <p:spPr>
            <a:xfrm>
              <a:off x="7828475" y="3559643"/>
              <a:ext cx="626000" cy="418359"/>
            </a:xfrm>
            <a:custGeom>
              <a:rect b="b" l="l" r="r" t="t"/>
              <a:pathLst>
                <a:path extrusionOk="0" h="62" w="67">
                  <a:moveTo>
                    <a:pt x="67" y="20"/>
                  </a:moveTo>
                  <a:cubicBezTo>
                    <a:pt x="67" y="27"/>
                    <a:pt x="58" y="36"/>
                    <a:pt x="46" y="36"/>
                  </a:cubicBezTo>
                  <a:cubicBezTo>
                    <a:pt x="44" y="38"/>
                    <a:pt x="42" y="40"/>
                    <a:pt x="42" y="40"/>
                  </a:cubicBezTo>
                  <a:cubicBezTo>
                    <a:pt x="40" y="42"/>
                    <a:pt x="39" y="44"/>
                    <a:pt x="39" y="47"/>
                  </a:cubicBezTo>
                  <a:cubicBezTo>
                    <a:pt x="39" y="49"/>
                    <a:pt x="40" y="52"/>
                    <a:pt x="44" y="52"/>
                  </a:cubicBezTo>
                  <a:cubicBezTo>
                    <a:pt x="48" y="52"/>
                    <a:pt x="52" y="54"/>
                    <a:pt x="52" y="58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2"/>
                    <a:pt x="51" y="62"/>
                    <a:pt x="51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6" y="62"/>
                    <a:pt x="16" y="62"/>
                    <a:pt x="16" y="61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4"/>
                    <a:pt x="20" y="52"/>
                    <a:pt x="24" y="52"/>
                  </a:cubicBezTo>
                  <a:cubicBezTo>
                    <a:pt x="27" y="52"/>
                    <a:pt x="29" y="49"/>
                    <a:pt x="29" y="47"/>
                  </a:cubicBezTo>
                  <a:cubicBezTo>
                    <a:pt x="29" y="44"/>
                    <a:pt x="28" y="42"/>
                    <a:pt x="26" y="40"/>
                  </a:cubicBezTo>
                  <a:cubicBezTo>
                    <a:pt x="25" y="40"/>
                    <a:pt x="24" y="38"/>
                    <a:pt x="22" y="36"/>
                  </a:cubicBezTo>
                  <a:cubicBezTo>
                    <a:pt x="10" y="36"/>
                    <a:pt x="0" y="27"/>
                    <a:pt x="0" y="2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2" y="11"/>
                    <a:pt x="4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3"/>
                    <a:pt x="19" y="0"/>
                    <a:pt x="22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2" y="3"/>
                    <a:pt x="52" y="7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6" y="11"/>
                    <a:pt x="67" y="12"/>
                    <a:pt x="67" y="15"/>
                  </a:cubicBezTo>
                  <a:lnTo>
                    <a:pt x="67" y="20"/>
                  </a:lnTo>
                  <a:close/>
                  <a:moveTo>
                    <a:pt x="16" y="16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4"/>
                    <a:pt x="11" y="29"/>
                    <a:pt x="19" y="31"/>
                  </a:cubicBezTo>
                  <a:cubicBezTo>
                    <a:pt x="17" y="27"/>
                    <a:pt x="16" y="22"/>
                    <a:pt x="16" y="16"/>
                  </a:cubicBezTo>
                  <a:close/>
                  <a:moveTo>
                    <a:pt x="62" y="16"/>
                  </a:moveTo>
                  <a:cubicBezTo>
                    <a:pt x="52" y="16"/>
                    <a:pt x="52" y="16"/>
                    <a:pt x="52" y="16"/>
                  </a:cubicBezTo>
                  <a:cubicBezTo>
                    <a:pt x="52" y="22"/>
                    <a:pt x="51" y="27"/>
                    <a:pt x="49" y="31"/>
                  </a:cubicBezTo>
                  <a:cubicBezTo>
                    <a:pt x="57" y="29"/>
                    <a:pt x="62" y="24"/>
                    <a:pt x="62" y="20"/>
                  </a:cubicBezTo>
                  <a:lnTo>
                    <a:pt x="62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9" name="Google Shape;749;p106"/>
          <p:cNvSpPr txBox="1"/>
          <p:nvPr/>
        </p:nvSpPr>
        <p:spPr>
          <a:xfrm>
            <a:off x="5548950" y="3360263"/>
            <a:ext cx="137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b="1"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ecreasing hiring cost</a:t>
            </a:r>
            <a:endParaRPr b="1" sz="1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106"/>
          <p:cNvSpPr txBox="1"/>
          <p:nvPr/>
        </p:nvSpPr>
        <p:spPr>
          <a:xfrm>
            <a:off x="2009784" y="3379939"/>
            <a:ext cx="140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Facilitates</a:t>
            </a:r>
            <a:r>
              <a:rPr b="1"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 scouting </a:t>
            </a:r>
            <a:endParaRPr b="1" sz="1200">
              <a:solidFill>
                <a:srgbClr val="2E2E2E"/>
              </a:solidFill>
            </a:endParaRPr>
          </a:p>
        </p:txBody>
      </p:sp>
      <p:sp>
        <p:nvSpPr>
          <p:cNvPr id="751" name="Google Shape;751;p106"/>
          <p:cNvSpPr txBox="1"/>
          <p:nvPr/>
        </p:nvSpPr>
        <p:spPr>
          <a:xfrm>
            <a:off x="3799075" y="3271734"/>
            <a:ext cx="12270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Inc</a:t>
            </a:r>
            <a:r>
              <a:rPr b="1"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reases rete</a:t>
            </a:r>
            <a:r>
              <a:rPr b="1" lang="en" sz="1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ntion rates</a:t>
            </a:r>
            <a:endParaRPr b="1" sz="1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52" name="Google Shape;752;p106"/>
          <p:cNvCxnSpPr/>
          <p:nvPr/>
        </p:nvCxnSpPr>
        <p:spPr>
          <a:xfrm>
            <a:off x="237750" y="2985525"/>
            <a:ext cx="857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" name="Google Shape;753;p106"/>
          <p:cNvSpPr/>
          <p:nvPr/>
        </p:nvSpPr>
        <p:spPr>
          <a:xfrm>
            <a:off x="5539350" y="885738"/>
            <a:ext cx="2977500" cy="1820400"/>
          </a:xfrm>
          <a:prstGeom prst="rect">
            <a:avLst/>
          </a:prstGeom>
          <a:solidFill>
            <a:srgbClr val="73937E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06"/>
          <p:cNvSpPr txBox="1"/>
          <p:nvPr/>
        </p:nvSpPr>
        <p:spPr>
          <a:xfrm>
            <a:off x="5774700" y="1114188"/>
            <a:ext cx="27885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According to Boston Consulting Group, including healthcare and child care in employment packages is an investment</a:t>
            </a:r>
            <a:r>
              <a:rPr lang="en"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[8]</a:t>
            </a: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55" name="Google Shape;755;p106"/>
          <p:cNvGrpSpPr/>
          <p:nvPr/>
        </p:nvGrpSpPr>
        <p:grpSpPr>
          <a:xfrm>
            <a:off x="3209227" y="3263578"/>
            <a:ext cx="757305" cy="747533"/>
            <a:chOff x="5249342" y="1406453"/>
            <a:chExt cx="648600" cy="648900"/>
          </a:xfrm>
        </p:grpSpPr>
        <p:sp>
          <p:nvSpPr>
            <p:cNvPr id="756" name="Google Shape;756;p106"/>
            <p:cNvSpPr/>
            <p:nvPr/>
          </p:nvSpPr>
          <p:spPr>
            <a:xfrm>
              <a:off x="5249342" y="1406453"/>
              <a:ext cx="648600" cy="648900"/>
            </a:xfrm>
            <a:prstGeom prst="ellipse">
              <a:avLst/>
            </a:prstGeom>
            <a:solidFill>
              <a:srgbClr val="A1B9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06"/>
            <p:cNvSpPr/>
            <p:nvPr/>
          </p:nvSpPr>
          <p:spPr>
            <a:xfrm>
              <a:off x="5324169" y="1481343"/>
              <a:ext cx="498900" cy="499200"/>
            </a:xfrm>
            <a:prstGeom prst="ellipse">
              <a:avLst/>
            </a:prstGeom>
            <a:solidFill>
              <a:srgbClr val="7798E2">
                <a:alpha val="1698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" sz="1600">
                  <a:solidFill>
                    <a:srgbClr val="FFFFFF"/>
                  </a:solidFill>
                </a:rPr>
                <a:t>2</a:t>
              </a:r>
              <a:endParaRPr b="1" sz="16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107"/>
          <p:cNvSpPr txBox="1"/>
          <p:nvPr/>
        </p:nvSpPr>
        <p:spPr>
          <a:xfrm>
            <a:off x="176850" y="93000"/>
            <a:ext cx="78705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Funds saved from reducing hiring costs will be </a:t>
            </a: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reinvested</a:t>
            </a: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 in increasing employee wages based on seniority.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4" name="Google Shape;764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688" y="917300"/>
            <a:ext cx="7766615" cy="418289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5" name="Google Shape;765;p107"/>
          <p:cNvSpPr/>
          <p:nvPr/>
        </p:nvSpPr>
        <p:spPr>
          <a:xfrm>
            <a:off x="3326525" y="1035475"/>
            <a:ext cx="1071600" cy="51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108"/>
          <p:cNvPicPr preferRelativeResize="0"/>
          <p:nvPr/>
        </p:nvPicPr>
        <p:blipFill rotWithShape="1">
          <a:blip r:embed="rId3">
            <a:alphaModFix/>
          </a:blip>
          <a:srcRect b="0" l="0" r="29859" t="0"/>
          <a:stretch/>
        </p:blipFill>
        <p:spPr>
          <a:xfrm>
            <a:off x="148438" y="1235421"/>
            <a:ext cx="8847126" cy="2574713"/>
          </a:xfrm>
          <a:prstGeom prst="rect">
            <a:avLst/>
          </a:prstGeom>
          <a:noFill/>
          <a:ln cap="flat" cmpd="sng" w="19050">
            <a:solidFill>
              <a:srgbClr val="8CA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1" name="Google Shape;771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108"/>
          <p:cNvSpPr txBox="1"/>
          <p:nvPr/>
        </p:nvSpPr>
        <p:spPr>
          <a:xfrm>
            <a:off x="176850" y="93000"/>
            <a:ext cx="78705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Implementing this plan is feasible within </a:t>
            </a: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12 months</a:t>
            </a: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 per location.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108"/>
          <p:cNvSpPr/>
          <p:nvPr/>
        </p:nvSpPr>
        <p:spPr>
          <a:xfrm>
            <a:off x="476363" y="4139075"/>
            <a:ext cx="2669400" cy="852300"/>
          </a:xfrm>
          <a:prstGeom prst="rect">
            <a:avLst/>
          </a:prstGeom>
          <a:solidFill>
            <a:srgbClr val="87A2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08"/>
          <p:cNvSpPr/>
          <p:nvPr/>
        </p:nvSpPr>
        <p:spPr>
          <a:xfrm>
            <a:off x="3237313" y="4139075"/>
            <a:ext cx="2669400" cy="852300"/>
          </a:xfrm>
          <a:prstGeom prst="rect">
            <a:avLst/>
          </a:prstGeom>
          <a:solidFill>
            <a:srgbClr val="87A2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08"/>
          <p:cNvSpPr/>
          <p:nvPr/>
        </p:nvSpPr>
        <p:spPr>
          <a:xfrm>
            <a:off x="5998263" y="4139075"/>
            <a:ext cx="2669400" cy="852300"/>
          </a:xfrm>
          <a:prstGeom prst="rect">
            <a:avLst/>
          </a:prstGeom>
          <a:solidFill>
            <a:srgbClr val="87A2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08"/>
          <p:cNvSpPr txBox="1"/>
          <p:nvPr/>
        </p:nvSpPr>
        <p:spPr>
          <a:xfrm>
            <a:off x="712475" y="4334975"/>
            <a:ext cx="2197200" cy="656400"/>
          </a:xfrm>
          <a:prstGeom prst="rect">
            <a:avLst/>
          </a:prstGeom>
          <a:solidFill>
            <a:srgbClr val="87A29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Based on the average sized store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77" name="Google Shape;777;p108"/>
          <p:cNvSpPr txBox="1"/>
          <p:nvPr/>
        </p:nvSpPr>
        <p:spPr>
          <a:xfrm>
            <a:off x="3473425" y="4334975"/>
            <a:ext cx="21972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Easily scaled to smaller locations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78" name="Google Shape;778;p108"/>
          <p:cNvSpPr txBox="1"/>
          <p:nvPr/>
        </p:nvSpPr>
        <p:spPr>
          <a:xfrm>
            <a:off x="6112425" y="4328375"/>
            <a:ext cx="24411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Buffer factor included so larger locations can catch up</a:t>
            </a:r>
            <a:endParaRPr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79" name="Google Shape;779;p108"/>
          <p:cNvSpPr txBox="1"/>
          <p:nvPr/>
        </p:nvSpPr>
        <p:spPr>
          <a:xfrm>
            <a:off x="5177925" y="882025"/>
            <a:ext cx="3688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E2E2E"/>
                </a:solidFill>
                <a:latin typeface="Lexend Light"/>
                <a:ea typeface="Lexend Light"/>
                <a:cs typeface="Lexend Light"/>
                <a:sym typeface="Lexend Light"/>
              </a:rPr>
              <a:t>Gantt chart continues as is</a:t>
            </a:r>
            <a:endParaRPr sz="1200">
              <a:solidFill>
                <a:srgbClr val="2E2E2E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9"/>
          <p:cNvSpPr/>
          <p:nvPr/>
        </p:nvSpPr>
        <p:spPr>
          <a:xfrm>
            <a:off x="516900" y="2840975"/>
            <a:ext cx="3921000" cy="1753200"/>
          </a:xfrm>
          <a:prstGeom prst="rect">
            <a:avLst/>
          </a:prstGeom>
          <a:solidFill>
            <a:srgbClr val="454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109"/>
          <p:cNvSpPr/>
          <p:nvPr/>
        </p:nvSpPr>
        <p:spPr>
          <a:xfrm>
            <a:off x="4572000" y="2840963"/>
            <a:ext cx="4055100" cy="1753200"/>
          </a:xfrm>
          <a:prstGeom prst="rect">
            <a:avLst/>
          </a:prstGeom>
          <a:solidFill>
            <a:srgbClr val="7898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109"/>
          <p:cNvSpPr/>
          <p:nvPr/>
        </p:nvSpPr>
        <p:spPr>
          <a:xfrm>
            <a:off x="4572000" y="1087774"/>
            <a:ext cx="4055100" cy="1645500"/>
          </a:xfrm>
          <a:prstGeom prst="rect">
            <a:avLst/>
          </a:prstGeom>
          <a:solidFill>
            <a:srgbClr val="73937E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109"/>
          <p:cNvSpPr/>
          <p:nvPr/>
        </p:nvSpPr>
        <p:spPr>
          <a:xfrm>
            <a:off x="522900" y="1087775"/>
            <a:ext cx="3921000" cy="1645500"/>
          </a:xfrm>
          <a:prstGeom prst="rect">
            <a:avLst/>
          </a:prstGeom>
          <a:solidFill>
            <a:srgbClr val="B973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109"/>
          <p:cNvSpPr txBox="1"/>
          <p:nvPr>
            <p:ph idx="4" type="body"/>
          </p:nvPr>
        </p:nvSpPr>
        <p:spPr>
          <a:xfrm>
            <a:off x="784200" y="1604263"/>
            <a:ext cx="342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Advertise long-term employment benefits</a:t>
            </a:r>
            <a:endParaRPr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>
                <a:solidFill>
                  <a:schemeClr val="dk2"/>
                </a:solidFill>
              </a:rPr>
              <a:t>Increasing personal investment</a:t>
            </a:r>
            <a:endParaRPr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>
                <a:solidFill>
                  <a:schemeClr val="dk2"/>
                </a:solidFill>
              </a:rPr>
              <a:t>Career with the company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89" name="Google Shape;789;p109"/>
          <p:cNvSpPr txBox="1"/>
          <p:nvPr>
            <p:ph idx="5" type="subTitle"/>
          </p:nvPr>
        </p:nvSpPr>
        <p:spPr>
          <a:xfrm>
            <a:off x="912200" y="1330313"/>
            <a:ext cx="32934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Marketing</a:t>
            </a:r>
            <a:endParaRPr>
              <a:solidFill>
                <a:schemeClr val="dk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790" name="Google Shape;790;p109"/>
          <p:cNvSpPr txBox="1"/>
          <p:nvPr>
            <p:ph idx="4" type="body"/>
          </p:nvPr>
        </p:nvSpPr>
        <p:spPr>
          <a:xfrm>
            <a:off x="4952425" y="3421050"/>
            <a:ext cx="32934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Weekly surveys submitted to HQ</a:t>
            </a:r>
            <a:endParaRPr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>
                <a:solidFill>
                  <a:schemeClr val="dk2"/>
                </a:solidFill>
              </a:rPr>
              <a:t>Ensure policies are being followed</a:t>
            </a:r>
            <a:endParaRPr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>
                <a:solidFill>
                  <a:schemeClr val="dk2"/>
                </a:solidFill>
              </a:rPr>
              <a:t>Maintenance checks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1" name="Google Shape;791;p109"/>
          <p:cNvSpPr txBox="1"/>
          <p:nvPr>
            <p:ph idx="5" type="subTitle"/>
          </p:nvPr>
        </p:nvSpPr>
        <p:spPr>
          <a:xfrm>
            <a:off x="4953275" y="3147100"/>
            <a:ext cx="32934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Quality Assurance</a:t>
            </a:r>
            <a:endParaRPr>
              <a:solidFill>
                <a:schemeClr val="dk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792" name="Google Shape;792;p109"/>
          <p:cNvSpPr txBox="1"/>
          <p:nvPr>
            <p:ph idx="4" type="body"/>
          </p:nvPr>
        </p:nvSpPr>
        <p:spPr>
          <a:xfrm>
            <a:off x="904338" y="3435000"/>
            <a:ext cx="32934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Employers send out schedules for a month at a time</a:t>
            </a:r>
            <a:endParaRPr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>
                <a:solidFill>
                  <a:schemeClr val="dk2"/>
                </a:solidFill>
              </a:rPr>
              <a:t>Consistency and organization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3" name="Google Shape;793;p109"/>
          <p:cNvSpPr txBox="1"/>
          <p:nvPr>
            <p:ph idx="5" type="subTitle"/>
          </p:nvPr>
        </p:nvSpPr>
        <p:spPr>
          <a:xfrm>
            <a:off x="905188" y="3161050"/>
            <a:ext cx="32934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Scheduling</a:t>
            </a:r>
            <a:endParaRPr>
              <a:solidFill>
                <a:schemeClr val="dk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794" name="Google Shape;794;p109"/>
          <p:cNvSpPr txBox="1"/>
          <p:nvPr>
            <p:ph idx="4" type="body"/>
          </p:nvPr>
        </p:nvSpPr>
        <p:spPr>
          <a:xfrm>
            <a:off x="4945413" y="1604263"/>
            <a:ext cx="32934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Training routines update and adapt to company growth</a:t>
            </a:r>
            <a:endParaRPr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>
                <a:solidFill>
                  <a:schemeClr val="dk2"/>
                </a:solidFill>
              </a:rPr>
              <a:t>Surveys will help improve internal benchmarking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5" name="Google Shape;795;p109"/>
          <p:cNvSpPr txBox="1"/>
          <p:nvPr>
            <p:ph idx="5" type="subTitle"/>
          </p:nvPr>
        </p:nvSpPr>
        <p:spPr>
          <a:xfrm>
            <a:off x="4946263" y="1330313"/>
            <a:ext cx="32934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Improved Training </a:t>
            </a:r>
            <a:r>
              <a:rPr lang="en" sz="10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[14]</a:t>
            </a:r>
            <a:endParaRPr sz="1000">
              <a:solidFill>
                <a:schemeClr val="dk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796" name="Google Shape;796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109"/>
          <p:cNvSpPr txBox="1"/>
          <p:nvPr/>
        </p:nvSpPr>
        <p:spPr>
          <a:xfrm>
            <a:off x="176850" y="93000"/>
            <a:ext cx="78705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Long term reliability is </a:t>
            </a:r>
            <a:r>
              <a:rPr b="1"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crucial </a:t>
            </a: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in improving employee and customer satisfaction with Yanana Kitchens Co.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10"/>
          <p:cNvSpPr txBox="1"/>
          <p:nvPr/>
        </p:nvSpPr>
        <p:spPr>
          <a:xfrm>
            <a:off x="265700" y="979000"/>
            <a:ext cx="86175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[1] E. Y. Zhu, Toronto, Ontario, 2025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[2] Starbucks, “our ENVIRONMENTAL &amp; SOCIAL IMPACT report S T A R B U C K S 2 0 2 2 our ENVIRONMENTAL &amp; SOCIAL IMPACT report,” 2022. Available: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3"/>
              </a:rPr>
              <a:t>https://stories.starbucks.com/uploads/2023/05/2022-Starbucks-Global-Environmental-Social-Impact-Report.pdf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[3] Progress report data tables,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4"/>
              </a:rPr>
              <a:t>https://stories.starbucks.com/uploads/2024/02/2023-Starbucks-Global-Impact-Report-Partner-Data-Tables.pdf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18, 2025). 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[4] “What is the Average Restaurant Industry Turnover Rate for Employees?,” Toasttab.com, 2024.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5"/>
              </a:rPr>
              <a:t>https://pos.toasttab.com/blog/on-the-line/restaurant-turnover-rate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[5] Bricker Graydon LLP, “The 90-Day Waiting Period Prohibition Applies to All Employers Regardless of Your Size,” @BrickerGraydon, Nov. 28, 2016.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6"/>
              </a:rPr>
              <a:t>https://www.brickergraydon.com/benefits-insights/90-day-waiting-period-prohibition-applies-employers-regardless-size?utm_source=chatgpt.com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‌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[6] “What’s the Average Paid Time Off (PTO) in the United States?,” Trinet.com, 2023.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7"/>
              </a:rPr>
              <a:t>https://www.trinet.com/insights/how-much-is-average-pto-in-the-us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[7] “Section 1: Cost of Health Insurance - 10240 | KFF,” KFF, Dec. 08, 2023.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8"/>
              </a:rPr>
              <a:t>https://www.kff.org/report-section/ehbs-2023-section-1-cost-of-health-insurance/?utm_source=chatgpt.com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[8] E. Kos, K. Clark, N. D. Santis, and T. Joseph, “Childcare Benefits More Than Pay for Themselves at US Companies,” BCG Global, Mar. 26, 2024. 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9"/>
              </a:rPr>
              <a:t>https://www.bcg.com/publications/2024/childcare-benefits-pay-for-themselves-at-us-companies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[9] K. Zhu, “Mapped: Infant Child-Care Costs by U.S. State,” Visual Capitalist, Oct. 03, 2024.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0"/>
              </a:rPr>
              <a:t>https://www.visualcapitalist.com/mapped-infant-child-care-costs-by-u-s-state/?utm_source=chatgpt.com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[10] “Applebee’s Careers and Employment,” Indeed.com.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1"/>
              </a:rPr>
              <a:t>https://www.indeed.com/cmp/Applebee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[11] “Hourly salaries in the United States at Red Lobster,” Indeed.com.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2"/>
              </a:rPr>
              <a:t>https://www.indeed.com/cmp/Red-Lobster/salaries/Chef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[12] “Yearly salaries in the United States at Olive Garden,” Indeed.com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3"/>
              </a:rPr>
              <a:t>https://www.indeed.com/cmp/Olive-Garden/salaries/Service-Manager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[13] “Yearly salaries in the United States at IHOP,” Indeed.com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4"/>
              </a:rPr>
              <a:t>https://www.indeed.com/cmp/Ihop/salaries/General-Manager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[14] E. Rosenbaum, “Panera is losing nearly 100% of its workers every year as fast-food turnover crisis worsens,” CNBC, Aug. 29, 2019.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5"/>
              </a:rPr>
              <a:t>https://www.cnbc.com/2019/08/29/fast-food-restaurants-in-america-are-losing-100percent-of-workers-every-year.html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[15] A Living Wage, "A Living Wage," Hamilton Roundtable for Poverty Reduction. [Online]. Available: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6"/>
              </a:rPr>
              <a:t>https://hwtc.ca/a_living_wage/#:~:text=When%20workers%20are%20paid%20a%20living%20wage%2C%20they%20are%20more,are%20satisfied%20with%20their%20experience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 (Accessed: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[16] 7shifts, "Restaurant Scheduling, Payroll &amp; Retention tools," 7shifts, 2025. [Online]. Available: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7"/>
              </a:rPr>
              <a:t>https://www.7shifts.com/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(Accessed: Jan. 18,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[17] M. Markes, “table of round food containers,” Unsplash.com, Feb. 2018. </a:t>
            </a:r>
            <a:r>
              <a:rPr lang="en" sz="6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18"/>
              </a:rPr>
              <a:t>https://unsplash.com/photos/table-of-round-food-containers-lfgsLxX17QA</a:t>
            </a:r>
            <a:r>
              <a:rPr lang="en" sz="6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(accessed Jan. 19, 2025).</a:t>
            </a:r>
            <a:endParaRPr sz="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3" name="Google Shape;803;p11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435125" y="38500"/>
            <a:ext cx="670275" cy="6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110"/>
          <p:cNvSpPr txBox="1"/>
          <p:nvPr/>
        </p:nvSpPr>
        <p:spPr>
          <a:xfrm>
            <a:off x="176850" y="93000"/>
            <a:ext cx="78705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2E2E2E"/>
                </a:solidFill>
                <a:latin typeface="Lexend"/>
                <a:ea typeface="Lexend"/>
                <a:cs typeface="Lexend"/>
                <a:sym typeface="Lexend"/>
              </a:rPr>
              <a:t>References</a:t>
            </a:r>
            <a:endParaRPr sz="2200">
              <a:solidFill>
                <a:srgbClr val="2E2E2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16_Yellow_Black The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19191"/>
      </a:accent1>
      <a:accent2>
        <a:srgbClr val="FFC000"/>
      </a:accent2>
      <a:accent3>
        <a:srgbClr val="846C0B"/>
      </a:accent3>
      <a:accent4>
        <a:srgbClr val="BF9000"/>
      </a:accent4>
      <a:accent5>
        <a:srgbClr val="5C6765"/>
      </a:accent5>
      <a:accent6>
        <a:srgbClr val="5C5C5C"/>
      </a:accent6>
      <a:hlink>
        <a:srgbClr val="1D201F"/>
      </a:hlink>
      <a:folHlink>
        <a:srgbClr val="2626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roduct Roadmap">
  <a:themeElements>
    <a:clrScheme name="Simple Light">
      <a:dk1>
        <a:srgbClr val="D32600"/>
      </a:dk1>
      <a:lt1>
        <a:srgbClr val="000000"/>
      </a:lt1>
      <a:dk2>
        <a:srgbClr val="FFFFFF"/>
      </a:dk2>
      <a:lt2>
        <a:srgbClr val="E57360"/>
      </a:lt2>
      <a:accent1>
        <a:srgbClr val="666666"/>
      </a:accent1>
      <a:accent2>
        <a:srgbClr val="B7B7B7"/>
      </a:accent2>
      <a:accent3>
        <a:srgbClr val="EFEFEF"/>
      </a:accent3>
      <a:accent4>
        <a:srgbClr val="F9EDE5"/>
      </a:accent4>
      <a:accent5>
        <a:srgbClr val="F3F3F3"/>
      </a:accent5>
      <a:accent6>
        <a:srgbClr val="FFAB4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